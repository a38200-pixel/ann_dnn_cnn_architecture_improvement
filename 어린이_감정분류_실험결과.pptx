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6" r:id="rId3"/>
    <p:sldId id="257" r:id="rId4"/>
    <p:sldId id="258" r:id="rId5"/>
    <p:sldId id="259" r:id="rId6"/>
    <p:sldId id="269" r:id="rId7"/>
    <p:sldId id="260" r:id="rId8"/>
    <p:sldId id="261" r:id="rId9"/>
    <p:sldId id="262" r:id="rId10"/>
    <p:sldId id="268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7505C-9327-CE94-580B-38C38ABF0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44FA7D67-9DA6-FEE2-C2C0-B5CFD18D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FAE1750-42DA-2DBC-9E23-791D8C5CF88E}"/>
              </a:ext>
            </a:extLst>
          </p:cNvPr>
          <p:cNvSpPr txBox="1"/>
          <p:nvPr/>
        </p:nvSpPr>
        <p:spPr>
          <a:xfrm>
            <a:off x="240145" y="1126836"/>
            <a:ext cx="88853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>
                <a:latin typeface="+mj-ea"/>
                <a:ea typeface="+mj-ea"/>
              </a:rPr>
              <a:t>Children’s Facial Emotion Classification: Experimental Results</a:t>
            </a:r>
            <a:endParaRPr lang="ko-KR" altLang="en-US" sz="3600" b="1" dirty="0"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62EEBD3-F1BB-8529-64DE-539778C60AFA}"/>
              </a:ext>
            </a:extLst>
          </p:cNvPr>
          <p:cNvSpPr/>
          <p:nvPr/>
        </p:nvSpPr>
        <p:spPr>
          <a:xfrm>
            <a:off x="1126832" y="3371256"/>
            <a:ext cx="1052945" cy="3686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EEA0C7A-A91C-B13E-614D-5A13456E962F}"/>
              </a:ext>
            </a:extLst>
          </p:cNvPr>
          <p:cNvSpPr/>
          <p:nvPr/>
        </p:nvSpPr>
        <p:spPr>
          <a:xfrm>
            <a:off x="1126830" y="4179439"/>
            <a:ext cx="1052947" cy="3686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B280ACE-ED83-7BB9-B3B0-EAE63478AEF1}"/>
              </a:ext>
            </a:extLst>
          </p:cNvPr>
          <p:cNvSpPr/>
          <p:nvPr/>
        </p:nvSpPr>
        <p:spPr>
          <a:xfrm>
            <a:off x="1126829" y="4933003"/>
            <a:ext cx="1052945" cy="3686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919E02-068D-1C68-317B-E1A6E7061A16}"/>
              </a:ext>
            </a:extLst>
          </p:cNvPr>
          <p:cNvSpPr txBox="1"/>
          <p:nvPr/>
        </p:nvSpPr>
        <p:spPr>
          <a:xfrm>
            <a:off x="1354503" y="3371257"/>
            <a:ext cx="631311" cy="3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ANN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FF67D2-DEF1-175A-C0E3-1402FD359CC2}"/>
              </a:ext>
            </a:extLst>
          </p:cNvPr>
          <p:cNvSpPr txBox="1"/>
          <p:nvPr/>
        </p:nvSpPr>
        <p:spPr>
          <a:xfrm>
            <a:off x="1330031" y="4179439"/>
            <a:ext cx="683492" cy="3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DNN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645253-13CD-1CDC-5C59-DEB96642E143}"/>
              </a:ext>
            </a:extLst>
          </p:cNvPr>
          <p:cNvSpPr txBox="1"/>
          <p:nvPr/>
        </p:nvSpPr>
        <p:spPr>
          <a:xfrm>
            <a:off x="1354504" y="4933003"/>
            <a:ext cx="659020" cy="3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A03874F-6729-4C23-14E3-7889EFE8D4BA}"/>
              </a:ext>
            </a:extLst>
          </p:cNvPr>
          <p:cNvSpPr/>
          <p:nvPr/>
        </p:nvSpPr>
        <p:spPr>
          <a:xfrm>
            <a:off x="3223487" y="3371257"/>
            <a:ext cx="1052945" cy="3686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925ED50-2ABB-B043-DF24-50D9AC7E54DC}"/>
              </a:ext>
            </a:extLst>
          </p:cNvPr>
          <p:cNvSpPr/>
          <p:nvPr/>
        </p:nvSpPr>
        <p:spPr>
          <a:xfrm>
            <a:off x="3223485" y="4179440"/>
            <a:ext cx="1052947" cy="3686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DAA3537F-8013-0D21-6D02-EE3DBD7189D9}"/>
              </a:ext>
            </a:extLst>
          </p:cNvPr>
          <p:cNvSpPr/>
          <p:nvPr/>
        </p:nvSpPr>
        <p:spPr>
          <a:xfrm>
            <a:off x="3223484" y="4933004"/>
            <a:ext cx="1052945" cy="368656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A4BB91-B04D-65F8-EBE3-73266B9FECEF}"/>
              </a:ext>
            </a:extLst>
          </p:cNvPr>
          <p:cNvSpPr txBox="1"/>
          <p:nvPr/>
        </p:nvSpPr>
        <p:spPr>
          <a:xfrm>
            <a:off x="3451158" y="3371258"/>
            <a:ext cx="631311" cy="3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ANN</a:t>
            </a:r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DEC643-B547-13B6-62D0-54DBE06F65FD}"/>
              </a:ext>
            </a:extLst>
          </p:cNvPr>
          <p:cNvSpPr txBox="1"/>
          <p:nvPr/>
        </p:nvSpPr>
        <p:spPr>
          <a:xfrm>
            <a:off x="3426686" y="4179440"/>
            <a:ext cx="683492" cy="3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DNN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40AA3B9-77DB-FAA4-EC88-FF5E86E89E72}"/>
              </a:ext>
            </a:extLst>
          </p:cNvPr>
          <p:cNvSpPr txBox="1"/>
          <p:nvPr/>
        </p:nvSpPr>
        <p:spPr>
          <a:xfrm>
            <a:off x="3451159" y="4933004"/>
            <a:ext cx="659020" cy="368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CNN</a:t>
            </a:r>
            <a:endParaRPr lang="ko-KR" altLang="en-US" dirty="0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991FB585-B675-E6B2-DF31-3F054B3910F2}"/>
              </a:ext>
            </a:extLst>
          </p:cNvPr>
          <p:cNvSpPr/>
          <p:nvPr/>
        </p:nvSpPr>
        <p:spPr>
          <a:xfrm>
            <a:off x="923631" y="2647408"/>
            <a:ext cx="1403927" cy="3686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37E711E6-0051-9CE3-6D29-994C63A700ED}"/>
              </a:ext>
            </a:extLst>
          </p:cNvPr>
          <p:cNvSpPr/>
          <p:nvPr/>
        </p:nvSpPr>
        <p:spPr>
          <a:xfrm>
            <a:off x="3072464" y="2654335"/>
            <a:ext cx="1403927" cy="36865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63250C-AE7A-98FE-87E0-84919D107C35}"/>
              </a:ext>
            </a:extLst>
          </p:cNvPr>
          <p:cNvSpPr txBox="1"/>
          <p:nvPr/>
        </p:nvSpPr>
        <p:spPr>
          <a:xfrm>
            <a:off x="1311556" y="2654335"/>
            <a:ext cx="748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Keras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E1E8CA4-2422-A779-4A92-AF196E77015D}"/>
              </a:ext>
            </a:extLst>
          </p:cNvPr>
          <p:cNvSpPr txBox="1"/>
          <p:nvPr/>
        </p:nvSpPr>
        <p:spPr>
          <a:xfrm>
            <a:off x="3334323" y="2661448"/>
            <a:ext cx="942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Pytorch</a:t>
            </a:r>
            <a:endParaRPr lang="ko-KR" altLang="en-US" dirty="0"/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AA181031-EDA6-7232-DEB3-53F88D6A6E35}"/>
              </a:ext>
            </a:extLst>
          </p:cNvPr>
          <p:cNvCxnSpPr/>
          <p:nvPr/>
        </p:nvCxnSpPr>
        <p:spPr>
          <a:xfrm>
            <a:off x="2697017" y="2438400"/>
            <a:ext cx="0" cy="3112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F885BE2-C714-0554-2D12-203300D473D2}"/>
              </a:ext>
            </a:extLst>
          </p:cNvPr>
          <p:cNvCxnSpPr/>
          <p:nvPr/>
        </p:nvCxnSpPr>
        <p:spPr>
          <a:xfrm>
            <a:off x="683491" y="2438400"/>
            <a:ext cx="0" cy="3112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A0036E1-F591-0F0F-E3F0-DCCE3FC74F63}"/>
              </a:ext>
            </a:extLst>
          </p:cNvPr>
          <p:cNvCxnSpPr/>
          <p:nvPr/>
        </p:nvCxnSpPr>
        <p:spPr>
          <a:xfrm>
            <a:off x="4747491" y="2438400"/>
            <a:ext cx="0" cy="31126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2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48397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rPr dirty="0" err="1"/>
              <a:t>어린이</a:t>
            </a:r>
            <a:r>
              <a:rPr dirty="0"/>
              <a:t> </a:t>
            </a:r>
            <a:r>
              <a:rPr dirty="0" err="1"/>
              <a:t>얼굴</a:t>
            </a:r>
            <a:r>
              <a:rPr dirty="0"/>
              <a:t> </a:t>
            </a:r>
            <a:r>
              <a:rPr dirty="0" err="1"/>
              <a:t>감정</a:t>
            </a:r>
            <a:r>
              <a:rPr dirty="0"/>
              <a:t> </a:t>
            </a:r>
            <a:r>
              <a:rPr dirty="0" err="1"/>
              <a:t>분류</a:t>
            </a:r>
            <a:r>
              <a:rPr dirty="0"/>
              <a:t> </a:t>
            </a:r>
            <a:r>
              <a:rPr dirty="0" err="1"/>
              <a:t>실험</a:t>
            </a:r>
            <a:r>
              <a:rPr lang="en-US" dirty="0"/>
              <a:t> </a:t>
            </a:r>
            <a:r>
              <a:rPr lang="ko-KR" altLang="en-US" dirty="0"/>
              <a:t>결과</a:t>
            </a:r>
            <a:r>
              <a:rPr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371768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sz="1050" u="sng" dirty="0"/>
              <a:t>ANN / DNN / CNN </a:t>
            </a:r>
            <a:r>
              <a:rPr sz="1050" u="sng" dirty="0" err="1"/>
              <a:t>구조</a:t>
            </a:r>
            <a:r>
              <a:rPr sz="1050" u="sng" dirty="0"/>
              <a:t> </a:t>
            </a:r>
            <a:r>
              <a:rPr sz="1050" u="sng" dirty="0" err="1"/>
              <a:t>개선</a:t>
            </a:r>
            <a:r>
              <a:rPr sz="1050" dirty="0" err="1"/>
              <a:t>과</a:t>
            </a:r>
            <a:r>
              <a:rPr sz="1050" u="sng" dirty="0"/>
              <a:t> </a:t>
            </a:r>
            <a:r>
              <a:rPr dirty="0" err="1"/>
              <a:t>Keras·PyTorch</a:t>
            </a:r>
            <a:r>
              <a:rPr dirty="0"/>
              <a:t>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요약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08760"/>
            <a:ext cx="539496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3215" y="1581912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연구</a:t>
            </a:r>
            <a:r>
              <a:rPr sz="1600" dirty="0"/>
              <a:t> </a:t>
            </a:r>
            <a:r>
              <a:rPr sz="1600" dirty="0" err="1"/>
              <a:t>개요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68679" y="1874519"/>
            <a:ext cx="5102351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r>
              <a:rPr lang="ko-KR" altLang="en-US" sz="1600" dirty="0"/>
              <a:t>데이터셋</a:t>
            </a:r>
            <a:r>
              <a:rPr lang="en-US" altLang="ko-KR" sz="1600" dirty="0"/>
              <a:t>: Kaggle -Young </a:t>
            </a:r>
            <a:r>
              <a:rPr lang="en-US" altLang="ko-KR" sz="1600" dirty="0" err="1"/>
              <a:t>AffectNet</a:t>
            </a:r>
            <a:r>
              <a:rPr lang="en-US" altLang="ko-KR" sz="1600" dirty="0"/>
              <a:t> HQ 14648</a:t>
            </a:r>
            <a:r>
              <a:rPr lang="ko-KR" altLang="en-US" sz="1600" dirty="0"/>
              <a:t>장</a:t>
            </a:r>
            <a:endParaRPr lang="en-US" altLang="ko-KR"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endParaRPr lang="en-US"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r>
              <a:rPr sz="1600" dirty="0" err="1"/>
              <a:t>분류</a:t>
            </a:r>
            <a:r>
              <a:rPr sz="1600" dirty="0"/>
              <a:t> </a:t>
            </a:r>
            <a:r>
              <a:rPr sz="1600" dirty="0" err="1"/>
              <a:t>대상</a:t>
            </a:r>
            <a:r>
              <a:rPr sz="1600" dirty="0"/>
              <a:t>: anger, contempt, disgust, fear, happy, neutral, sad, surprise</a:t>
            </a:r>
            <a:endParaRPr lang="en-US"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endParaRPr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r>
              <a:rPr sz="1600" dirty="0" err="1"/>
              <a:t>입력</a:t>
            </a:r>
            <a:r>
              <a:rPr sz="1600" dirty="0"/>
              <a:t> </a:t>
            </a:r>
            <a:r>
              <a:rPr sz="1600" dirty="0" err="1"/>
              <a:t>크기</a:t>
            </a:r>
            <a:r>
              <a:rPr sz="1600" dirty="0"/>
              <a:t>: 128×128</a:t>
            </a:r>
            <a:endParaRPr lang="en-US"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endParaRPr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r>
              <a:rPr sz="1600" dirty="0" err="1"/>
              <a:t>구현</a:t>
            </a:r>
            <a:r>
              <a:rPr sz="1600" dirty="0"/>
              <a:t> </a:t>
            </a:r>
            <a:r>
              <a:rPr sz="1600" dirty="0" err="1"/>
              <a:t>프레임워크</a:t>
            </a:r>
            <a:r>
              <a:rPr sz="1600" dirty="0"/>
              <a:t>: </a:t>
            </a:r>
            <a:r>
              <a:rPr sz="1600" dirty="0" err="1"/>
              <a:t>Keras</a:t>
            </a:r>
            <a:r>
              <a:rPr sz="1600" dirty="0"/>
              <a:t>(TensorFlow), </a:t>
            </a:r>
            <a:r>
              <a:rPr sz="1600" dirty="0" err="1"/>
              <a:t>PyTorch</a:t>
            </a:r>
            <a:endParaRPr lang="en-US"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endParaRPr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r>
              <a:rPr sz="1600" dirty="0" err="1"/>
              <a:t>비교</a:t>
            </a:r>
            <a:r>
              <a:rPr sz="1600" dirty="0"/>
              <a:t> </a:t>
            </a:r>
            <a:r>
              <a:rPr sz="1600" dirty="0" err="1"/>
              <a:t>대상</a:t>
            </a:r>
            <a:r>
              <a:rPr sz="1600" dirty="0"/>
              <a:t>: ANN / DNN / CNN</a:t>
            </a:r>
            <a:endParaRPr lang="en-US"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endParaRPr sz="1600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700">
                <a:solidFill>
                  <a:srgbClr val="373F4D"/>
                </a:solidFill>
                <a:latin typeface="Malgun Gothic"/>
              </a:defRPr>
            </a:pPr>
            <a:r>
              <a:rPr sz="1600" dirty="0" err="1"/>
              <a:t>평가지표</a:t>
            </a:r>
            <a:r>
              <a:rPr sz="1600" dirty="0"/>
              <a:t>: Test Loss, Accuracy, Macro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5074920" cy="416052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5162" y="1618856"/>
            <a:ext cx="12827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핵심</a:t>
            </a:r>
            <a:r>
              <a:rPr sz="1600" dirty="0"/>
              <a:t> </a:t>
            </a:r>
            <a:r>
              <a:rPr sz="1600" dirty="0" err="1"/>
              <a:t>메시지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583680" y="2243970"/>
            <a:ext cx="466344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두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우수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Keras가</a:t>
            </a:r>
            <a:r>
              <a:rPr dirty="0"/>
              <a:t>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실험에서</a:t>
            </a:r>
            <a:r>
              <a:rPr dirty="0"/>
              <a:t> </a:t>
            </a:r>
            <a:r>
              <a:rPr dirty="0" err="1"/>
              <a:t>전반적으로</a:t>
            </a:r>
            <a:r>
              <a:rPr dirty="0"/>
              <a:t> 더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기록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DNN은</a:t>
            </a:r>
            <a:r>
              <a:rPr dirty="0"/>
              <a:t> </a:t>
            </a:r>
            <a:r>
              <a:rPr dirty="0" err="1"/>
              <a:t>LayerNorm</a:t>
            </a:r>
            <a:r>
              <a:rPr dirty="0"/>
              <a:t> </a:t>
            </a:r>
            <a:r>
              <a:rPr dirty="0" err="1"/>
              <a:t>적용이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안정적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CNN은</a:t>
            </a:r>
            <a:r>
              <a:rPr dirty="0"/>
              <a:t> RGB + Augmentation + Callback </a:t>
            </a:r>
            <a:r>
              <a:rPr dirty="0" err="1"/>
              <a:t>수정</a:t>
            </a:r>
            <a:r>
              <a:rPr dirty="0"/>
              <a:t> </a:t>
            </a:r>
            <a:r>
              <a:rPr dirty="0" err="1"/>
              <a:t>조합이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후보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발표 흐름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02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41732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17320" y="1325880"/>
            <a:ext cx="9738359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rPr sz="1400" dirty="0" err="1"/>
              <a:t>연구</a:t>
            </a:r>
            <a:r>
              <a:rPr sz="1400" dirty="0"/>
              <a:t> </a:t>
            </a:r>
            <a:r>
              <a:rPr sz="1400" dirty="0" err="1"/>
              <a:t>목적</a:t>
            </a:r>
            <a:r>
              <a:rPr sz="1400" dirty="0"/>
              <a:t> 및 </a:t>
            </a:r>
            <a:r>
              <a:rPr sz="1400" dirty="0" err="1"/>
              <a:t>실험</a:t>
            </a:r>
            <a:r>
              <a:rPr sz="1400" dirty="0"/>
              <a:t> </a:t>
            </a:r>
            <a:r>
              <a:rPr sz="1400" dirty="0" err="1"/>
              <a:t>설계</a:t>
            </a:r>
            <a:endParaRPr sz="1400" dirty="0"/>
          </a:p>
        </p:txBody>
      </p:sp>
      <p:sp>
        <p:nvSpPr>
          <p:cNvPr id="9" name="Oval 8"/>
          <p:cNvSpPr/>
          <p:nvPr/>
        </p:nvSpPr>
        <p:spPr>
          <a:xfrm>
            <a:off x="914400" y="233172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240280"/>
            <a:ext cx="9738359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rPr sz="1400" dirty="0" err="1"/>
              <a:t>Keras</a:t>
            </a:r>
            <a:r>
              <a:rPr sz="1400" dirty="0"/>
              <a:t> </a:t>
            </a:r>
            <a:r>
              <a:rPr sz="1400" dirty="0" err="1"/>
              <a:t>구조</a:t>
            </a:r>
            <a:r>
              <a:rPr sz="1400" dirty="0"/>
              <a:t> </a:t>
            </a:r>
            <a:r>
              <a:rPr sz="1400" dirty="0" err="1"/>
              <a:t>개선</a:t>
            </a:r>
            <a:r>
              <a:rPr sz="1400" dirty="0"/>
              <a:t> </a:t>
            </a:r>
            <a:r>
              <a:rPr sz="1400" dirty="0" err="1"/>
              <a:t>실험</a:t>
            </a:r>
            <a:endParaRPr sz="1400" dirty="0"/>
          </a:p>
        </p:txBody>
      </p:sp>
      <p:sp>
        <p:nvSpPr>
          <p:cNvPr id="11" name="Oval 10"/>
          <p:cNvSpPr/>
          <p:nvPr/>
        </p:nvSpPr>
        <p:spPr>
          <a:xfrm>
            <a:off x="914400" y="324612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3154680"/>
            <a:ext cx="9738359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rPr sz="1400" dirty="0" err="1"/>
              <a:t>PyTorch</a:t>
            </a:r>
            <a:r>
              <a:rPr sz="1400" dirty="0"/>
              <a:t> </a:t>
            </a:r>
            <a:r>
              <a:rPr sz="1400" dirty="0" err="1"/>
              <a:t>재구현</a:t>
            </a:r>
            <a:r>
              <a:rPr sz="1400" dirty="0"/>
              <a:t> 및 </a:t>
            </a:r>
            <a:r>
              <a:rPr sz="1400" dirty="0" err="1"/>
              <a:t>결과</a:t>
            </a:r>
            <a:endParaRPr sz="1400" dirty="0"/>
          </a:p>
        </p:txBody>
      </p:sp>
      <p:sp>
        <p:nvSpPr>
          <p:cNvPr id="13" name="Oval 12"/>
          <p:cNvSpPr/>
          <p:nvPr/>
        </p:nvSpPr>
        <p:spPr>
          <a:xfrm>
            <a:off x="914400" y="416052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4069080"/>
            <a:ext cx="9738359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rPr sz="1400" dirty="0" err="1"/>
              <a:t>Keras</a:t>
            </a:r>
            <a:r>
              <a:rPr sz="1400" dirty="0"/>
              <a:t> vs </a:t>
            </a:r>
            <a:r>
              <a:rPr sz="1400" dirty="0" err="1"/>
              <a:t>PyTorch</a:t>
            </a:r>
            <a:r>
              <a:rPr sz="1400" dirty="0"/>
              <a:t> </a:t>
            </a:r>
            <a:r>
              <a:rPr sz="1400" dirty="0" err="1"/>
              <a:t>비교</a:t>
            </a:r>
            <a:endParaRPr sz="1400" dirty="0"/>
          </a:p>
        </p:txBody>
      </p:sp>
      <p:sp>
        <p:nvSpPr>
          <p:cNvPr id="15" name="Oval 14"/>
          <p:cNvSpPr/>
          <p:nvPr/>
        </p:nvSpPr>
        <p:spPr>
          <a:xfrm>
            <a:off x="914400" y="507492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17320" y="4983480"/>
            <a:ext cx="9738359" cy="6858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rPr sz="1400" dirty="0" err="1"/>
              <a:t>결론</a:t>
            </a:r>
            <a:r>
              <a:rPr sz="1400" dirty="0"/>
              <a:t> 및 </a:t>
            </a:r>
            <a:r>
              <a:rPr sz="1400" dirty="0" err="1"/>
              <a:t>향후</a:t>
            </a:r>
            <a:r>
              <a:rPr sz="1400" dirty="0"/>
              <a:t> </a:t>
            </a:r>
            <a:r>
              <a:rPr sz="1400" dirty="0" err="1"/>
              <a:t>실험</a:t>
            </a:r>
            <a:r>
              <a:rPr sz="1400" dirty="0"/>
              <a:t> </a:t>
            </a:r>
            <a:r>
              <a:rPr sz="1400" dirty="0" err="1"/>
              <a:t>방향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1. 실험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393569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구조에</a:t>
            </a:r>
            <a:r>
              <a:rPr dirty="0"/>
              <a:t> </a:t>
            </a:r>
            <a:r>
              <a:rPr dirty="0" err="1"/>
              <a:t>따른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차이와</a:t>
            </a:r>
            <a:r>
              <a:rPr dirty="0"/>
              <a:t> </a:t>
            </a:r>
            <a:r>
              <a:rPr dirty="0" err="1"/>
              <a:t>프레임워크별</a:t>
            </a:r>
            <a:r>
              <a:rPr dirty="0"/>
              <a:t> </a:t>
            </a:r>
            <a:r>
              <a:rPr dirty="0" err="1"/>
              <a:t>재현</a:t>
            </a:r>
            <a:r>
              <a:rPr dirty="0"/>
              <a:t> </a:t>
            </a:r>
            <a:r>
              <a:rPr dirty="0" err="1"/>
              <a:t>결과</a:t>
            </a:r>
            <a:r>
              <a:rPr dirty="0"/>
              <a:t> </a:t>
            </a:r>
            <a:r>
              <a:rPr dirty="0" err="1"/>
              <a:t>비교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210" y="1325880"/>
            <a:ext cx="566928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840" y="1482156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실험</a:t>
            </a:r>
            <a:r>
              <a:rPr sz="1600" dirty="0"/>
              <a:t> </a:t>
            </a:r>
            <a:r>
              <a:rPr sz="1600" dirty="0" err="1"/>
              <a:t>설정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22960" y="1996447"/>
            <a:ext cx="5212080" cy="3688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데이터셋</a:t>
            </a:r>
            <a:r>
              <a:rPr dirty="0"/>
              <a:t>: </a:t>
            </a:r>
            <a:r>
              <a:rPr dirty="0" err="1"/>
              <a:t>어린이</a:t>
            </a:r>
            <a:r>
              <a:rPr dirty="0"/>
              <a:t> </a:t>
            </a:r>
            <a:r>
              <a:rPr dirty="0" err="1"/>
              <a:t>얼굴</a:t>
            </a:r>
            <a:r>
              <a:rPr dirty="0"/>
              <a:t> </a:t>
            </a:r>
            <a:r>
              <a:rPr dirty="0" err="1"/>
              <a:t>감정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8개 </a:t>
            </a:r>
            <a:r>
              <a:rPr dirty="0" err="1"/>
              <a:t>클래스</a:t>
            </a: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입력</a:t>
            </a:r>
            <a:r>
              <a:rPr dirty="0"/>
              <a:t> </a:t>
            </a:r>
            <a:r>
              <a:rPr dirty="0" err="1"/>
              <a:t>크기</a:t>
            </a:r>
            <a:r>
              <a:rPr dirty="0"/>
              <a:t>: 128×128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ANN / DNN: Grayscale(1채널)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CNN: RGB(3채널)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Optimizer: Adam, Learning Rate 0.001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평가</a:t>
            </a:r>
            <a:r>
              <a:rPr dirty="0"/>
              <a:t>: Accuracy, Macro F1, Test Loss, Train–Validation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25880"/>
            <a:ext cx="512064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85000" y="1491392"/>
            <a:ext cx="156004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최종</a:t>
            </a:r>
            <a:r>
              <a:rPr sz="1600" dirty="0"/>
              <a:t> </a:t>
            </a:r>
            <a:r>
              <a:rPr sz="1600" dirty="0" err="1"/>
              <a:t>비교</a:t>
            </a:r>
            <a:r>
              <a:rPr sz="1600" dirty="0"/>
              <a:t> </a:t>
            </a:r>
            <a:r>
              <a:rPr sz="1600" dirty="0" err="1"/>
              <a:t>조건</a:t>
            </a:r>
            <a:endParaRPr sz="16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60180"/>
              </p:ext>
            </p:extLst>
          </p:nvPr>
        </p:nvGraphicFramePr>
        <p:xfrm>
          <a:off x="6629400" y="2022762"/>
          <a:ext cx="470916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72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7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Framework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DNN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Keras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rPr dirty="0"/>
                        <a:t>Gray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Gray + LayerNorm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RGB + Aug +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PyTorch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Gray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Gray + LayerNorm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rPr dirty="0"/>
                        <a:t>RGB + Aug + Callback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629400" y="3767972"/>
            <a:ext cx="4709160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00">
                <a:solidFill>
                  <a:srgbClr val="373F4D"/>
                </a:solidFill>
                <a:latin typeface="Malgun Gothic"/>
              </a:defRPr>
            </a:pPr>
            <a:r>
              <a:rPr dirty="0"/>
              <a:t>CNN augmentation: Horizontal Flip + Rotation ±5°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00">
                <a:solidFill>
                  <a:srgbClr val="373F4D"/>
                </a:solidFill>
                <a:latin typeface="Malgun Gothic"/>
              </a:defRPr>
            </a:pPr>
            <a:r>
              <a:rPr dirty="0"/>
              <a:t>DNN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개선은</a:t>
            </a:r>
            <a:r>
              <a:rPr dirty="0"/>
              <a:t> ablation </a:t>
            </a:r>
            <a:r>
              <a:rPr dirty="0" err="1"/>
              <a:t>실험으로</a:t>
            </a:r>
            <a:r>
              <a:rPr dirty="0"/>
              <a:t> </a:t>
            </a:r>
            <a:r>
              <a:rPr dirty="0" err="1"/>
              <a:t>선정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PyTorch는</a:t>
            </a:r>
            <a:r>
              <a:rPr dirty="0"/>
              <a:t> </a:t>
            </a:r>
            <a:r>
              <a:rPr dirty="0" err="1"/>
              <a:t>Keras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재구현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13F2EA1-99B3-CDBA-37CB-64007B8D0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868" y="347472"/>
            <a:ext cx="4890078" cy="652010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94E95CE-F38D-0710-FFBB-2A33F4C18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814" y="347472"/>
            <a:ext cx="4890079" cy="65201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CD996-1D75-F289-02AD-845C292D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DED5EF-6B91-3653-D3EE-555EE9DF52DA}"/>
              </a:ext>
            </a:extLst>
          </p:cNvPr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E0933-8175-66E3-D47F-BC8E8285614B}"/>
              </a:ext>
            </a:extLst>
          </p:cNvPr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2. Keras 구조 개선 실험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1FF5FC-7BCC-F5B4-3A61-A0188FC0EF4A}"/>
              </a:ext>
            </a:extLst>
          </p:cNvPr>
          <p:cNvSpPr txBox="1"/>
          <p:nvPr/>
        </p:nvSpPr>
        <p:spPr>
          <a:xfrm>
            <a:off x="530352" y="987552"/>
            <a:ext cx="45336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초기</a:t>
            </a:r>
            <a:r>
              <a:rPr dirty="0"/>
              <a:t> validation accuracy </a:t>
            </a:r>
            <a:r>
              <a:rPr dirty="0" err="1"/>
              <a:t>고정</a:t>
            </a:r>
            <a:r>
              <a:rPr dirty="0"/>
              <a:t> </a:t>
            </a:r>
            <a:r>
              <a:rPr dirty="0" err="1"/>
              <a:t>문제를</a:t>
            </a:r>
            <a:r>
              <a:rPr dirty="0"/>
              <a:t> </a:t>
            </a:r>
            <a:r>
              <a:rPr dirty="0" err="1"/>
              <a:t>중심으로</a:t>
            </a:r>
            <a:r>
              <a:rPr dirty="0"/>
              <a:t> DNN </a:t>
            </a:r>
            <a:r>
              <a:rPr dirty="0" err="1"/>
              <a:t>ablation을</a:t>
            </a:r>
            <a:r>
              <a:rPr dirty="0"/>
              <a:t> </a:t>
            </a:r>
            <a:r>
              <a:rPr dirty="0" err="1"/>
              <a:t>수행</a:t>
            </a:r>
            <a:endParaRPr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369F2BD-1A5C-4F6D-111F-8E24F9180A9B}"/>
              </a:ext>
            </a:extLst>
          </p:cNvPr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Keras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E6E9E-49E2-E5CE-3F76-1570849ACF16}"/>
              </a:ext>
            </a:extLst>
          </p:cNvPr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04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1A2C76-BC70-6FF9-0046-E0E72CCB1F45}"/>
              </a:ext>
            </a:extLst>
          </p:cNvPr>
          <p:cNvSpPr/>
          <p:nvPr/>
        </p:nvSpPr>
        <p:spPr>
          <a:xfrm>
            <a:off x="594360" y="1325880"/>
            <a:ext cx="5486400" cy="45720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B5D605-134D-4B32-FE5C-FAC8FC87B888}"/>
              </a:ext>
            </a:extLst>
          </p:cNvPr>
          <p:cNvSpPr txBox="1"/>
          <p:nvPr/>
        </p:nvSpPr>
        <p:spPr>
          <a:xfrm>
            <a:off x="823604" y="1537578"/>
            <a:ext cx="252825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/>
              <a:t>DNN Ablation </a:t>
            </a:r>
            <a:r>
              <a:rPr sz="1600" dirty="0" err="1"/>
              <a:t>결과</a:t>
            </a:r>
            <a:r>
              <a:rPr sz="1600" dirty="0"/>
              <a:t> </a:t>
            </a:r>
            <a:r>
              <a:rPr sz="1600" dirty="0" err="1"/>
              <a:t>해석</a:t>
            </a:r>
            <a:endParaRPr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E840B9-9E32-6C1D-326A-250E3E6E6796}"/>
              </a:ext>
            </a:extLst>
          </p:cNvPr>
          <p:cNvSpPr txBox="1"/>
          <p:nvPr/>
        </p:nvSpPr>
        <p:spPr>
          <a:xfrm>
            <a:off x="822960" y="2254135"/>
            <a:ext cx="493776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Baseline DNN: Test Accuracy 36.09%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Dropout only: 27.83% → Underfitting </a:t>
            </a:r>
            <a:r>
              <a:rPr dirty="0" err="1"/>
              <a:t>경향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Augmentation only: 33.00% →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효과</a:t>
            </a:r>
            <a:r>
              <a:rPr dirty="0"/>
              <a:t> </a:t>
            </a:r>
            <a:r>
              <a:rPr dirty="0" err="1"/>
              <a:t>제한적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LayerNorm</a:t>
            </a:r>
            <a:r>
              <a:rPr dirty="0"/>
              <a:t> only: 39.81% →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안정적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결론</a:t>
            </a:r>
            <a:r>
              <a:rPr dirty="0"/>
              <a:t>: Dropout </a:t>
            </a:r>
            <a:r>
              <a:rPr dirty="0" err="1"/>
              <a:t>제거</a:t>
            </a:r>
            <a:r>
              <a:rPr dirty="0"/>
              <a:t>, </a:t>
            </a:r>
            <a:r>
              <a:rPr dirty="0" err="1"/>
              <a:t>LayerNorm만</a:t>
            </a:r>
            <a:r>
              <a:rPr dirty="0"/>
              <a:t> </a:t>
            </a:r>
            <a:r>
              <a:rPr dirty="0" err="1"/>
              <a:t>유지</a:t>
            </a:r>
            <a:endParaRPr dirty="0"/>
          </a:p>
        </p:txBody>
      </p:sp>
      <p:pic>
        <p:nvPicPr>
          <p:cNvPr id="10" name="Picture 9" descr="keras_dnn_ablation.png">
            <a:extLst>
              <a:ext uri="{FF2B5EF4-FFF2-40B4-BE49-F238E27FC236}">
                <a16:creationId xmlns:a16="http://schemas.microsoft.com/office/drawing/2014/main" id="{462BFCCE-8590-2464-DB4C-8202BEB30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08760"/>
            <a:ext cx="4846320" cy="26969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AAAAAFA-DCC2-A65C-6200-D48FC02D9904}"/>
              </a:ext>
            </a:extLst>
          </p:cNvPr>
          <p:cNvSpPr txBox="1"/>
          <p:nvPr/>
        </p:nvSpPr>
        <p:spPr>
          <a:xfrm>
            <a:off x="6537960" y="51663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F6978"/>
                </a:solidFill>
                <a:latin typeface="Malgun Gothic"/>
              </a:defRPr>
            </a:pPr>
            <a:r>
              <a:t>그림. Keras DNN ablation의 Test Accuracy 비교</a:t>
            </a:r>
          </a:p>
        </p:txBody>
      </p:sp>
    </p:spTree>
    <p:extLst>
      <p:ext uri="{BB962C8B-B14F-4D97-AF65-F5344CB8AC3E}">
        <p14:creationId xmlns:p14="http://schemas.microsoft.com/office/powerpoint/2010/main" val="24631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2. Keras CNN 개선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414408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과적합</a:t>
            </a:r>
            <a:r>
              <a:rPr dirty="0"/>
              <a:t> </a:t>
            </a:r>
            <a:r>
              <a:rPr dirty="0" err="1"/>
              <a:t>완화와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유지</a:t>
            </a:r>
            <a:r>
              <a:rPr dirty="0"/>
              <a:t>/</a:t>
            </a:r>
            <a:r>
              <a:rPr dirty="0" err="1"/>
              <a:t>향상을</a:t>
            </a:r>
            <a:r>
              <a:rPr dirty="0"/>
              <a:t> </a:t>
            </a:r>
            <a:r>
              <a:rPr dirty="0" err="1"/>
              <a:t>동시에</a:t>
            </a:r>
            <a:r>
              <a:rPr dirty="0"/>
              <a:t> </a:t>
            </a:r>
            <a:r>
              <a:rPr dirty="0" err="1"/>
              <a:t>목표로</a:t>
            </a:r>
            <a:r>
              <a:rPr dirty="0"/>
              <a:t> CNN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조정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Keras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05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150876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1417320"/>
            <a:ext cx="24231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t>Baseline CNN (Gray / Aug X / Dropout X)</a:t>
            </a:r>
            <a:br/>
            <a:r>
              <a:t>→ Train-Val gap 약 20%p로 과적합 발견</a:t>
            </a:r>
          </a:p>
        </p:txBody>
      </p:sp>
      <p:sp>
        <p:nvSpPr>
          <p:cNvPr id="9" name="Oval 8"/>
          <p:cNvSpPr/>
          <p:nvPr/>
        </p:nvSpPr>
        <p:spPr>
          <a:xfrm>
            <a:off x="4069080" y="150876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417320"/>
            <a:ext cx="24231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t>Augmentation 적용</a:t>
            </a:r>
            <a:br/>
            <a:r>
              <a:t>→ 과적합은 감소했지만 Test 성능 감소</a:t>
            </a:r>
          </a:p>
        </p:txBody>
      </p:sp>
      <p:sp>
        <p:nvSpPr>
          <p:cNvPr id="11" name="Oval 10"/>
          <p:cNvSpPr/>
          <p:nvPr/>
        </p:nvSpPr>
        <p:spPr>
          <a:xfrm>
            <a:off x="7406640" y="1508760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417320"/>
            <a:ext cx="24231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t>Callback 수정</a:t>
            </a:r>
            <a:br/>
            <a:r>
              <a:t>(LR patience 2→4, EarlyStopping 5→7)</a:t>
            </a:r>
            <a:br/>
            <a:r>
              <a:t>→ Test 성능 회복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749039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657600"/>
            <a:ext cx="24231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t>Dropout 0.2 실험</a:t>
            </a:r>
            <a:br/>
            <a:r>
              <a:t>→ Test Accuracy 44.85%, Underfitting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4069080" y="3749039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3657600"/>
            <a:ext cx="24231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t>Dropout 제거</a:t>
            </a:r>
          </a:p>
        </p:txBody>
      </p:sp>
      <p:sp>
        <p:nvSpPr>
          <p:cNvPr id="17" name="Oval 16"/>
          <p:cNvSpPr/>
          <p:nvPr/>
        </p:nvSpPr>
        <p:spPr>
          <a:xfrm>
            <a:off x="7406640" y="3749039"/>
            <a:ext cx="384048" cy="384048"/>
          </a:xfrm>
          <a:prstGeom prst="ellipse">
            <a:avLst/>
          </a:prstGeom>
          <a:solidFill>
            <a:srgbClr val="265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3657600"/>
            <a:ext cx="2423160" cy="160020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373F4D"/>
                </a:solidFill>
                <a:latin typeface="Malgun Gothic"/>
              </a:defRPr>
            </a:pPr>
            <a:r>
              <a:t>RGB 실험</a:t>
            </a:r>
            <a:br/>
            <a:r>
              <a:t>→ Gray+Aug 52.02%, RGB+Aug 52.47%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2. Keras 최종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244650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최종적으로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우수한</a:t>
            </a:r>
            <a:r>
              <a:rPr dirty="0"/>
              <a:t> </a:t>
            </a:r>
            <a:r>
              <a:rPr dirty="0" err="1"/>
              <a:t>성능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Keras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05740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Best Accuracy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52.47%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Keras 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205740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Best Macro F1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52.00%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Keras CNN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417320"/>
            <a:ext cx="205740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Best Test Loss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1.2620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Keras CNN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17320"/>
            <a:ext cx="256032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Key Finding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CNN &gt; ANN ≈ DNN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공간 정보 보존의 중요성 확인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791305"/>
              </p:ext>
            </p:extLst>
          </p:nvPr>
        </p:nvGraphicFramePr>
        <p:xfrm>
          <a:off x="731520" y="3120500"/>
          <a:ext cx="5486400" cy="172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Params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128×128×1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rPr dirty="0"/>
                        <a:t>1.4264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44.89%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2,098,312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128×128×1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1.4370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44.03%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43.46%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8,555,912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128×128×3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1.2620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rPr dirty="0"/>
                        <a:t>423,208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46520" y="2880360"/>
            <a:ext cx="5074920" cy="224028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584" y="2990456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요약</a:t>
            </a:r>
            <a:r>
              <a:rPr sz="1600" dirty="0"/>
              <a:t> </a:t>
            </a:r>
            <a:r>
              <a:rPr sz="1600" dirty="0" err="1"/>
              <a:t>해석</a:t>
            </a:r>
            <a:endParaRPr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675120" y="3458553"/>
            <a:ext cx="461772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CNN은</a:t>
            </a:r>
            <a:r>
              <a:rPr dirty="0"/>
              <a:t> </a:t>
            </a:r>
            <a:r>
              <a:rPr dirty="0" err="1"/>
              <a:t>Accuracy와</a:t>
            </a:r>
            <a:r>
              <a:rPr dirty="0"/>
              <a:t> Macro F1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높음</a:t>
            </a: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/>
              <a:t>ANN/</a:t>
            </a:r>
            <a:r>
              <a:rPr dirty="0" err="1"/>
              <a:t>DNN은</a:t>
            </a:r>
            <a:r>
              <a:rPr dirty="0"/>
              <a:t> Flatten </a:t>
            </a:r>
            <a:r>
              <a:rPr dirty="0" err="1"/>
              <a:t>기반이라</a:t>
            </a:r>
            <a:r>
              <a:rPr dirty="0"/>
              <a:t> </a:t>
            </a:r>
            <a:r>
              <a:rPr dirty="0" err="1"/>
              <a:t>공간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활용이</a:t>
            </a:r>
            <a:r>
              <a:rPr dirty="0"/>
              <a:t> </a:t>
            </a:r>
            <a:r>
              <a:rPr dirty="0" err="1"/>
              <a:t>제한됨</a:t>
            </a: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/>
              <a:t>RGB </a:t>
            </a:r>
            <a:r>
              <a:rPr dirty="0" err="1"/>
              <a:t>입력과</a:t>
            </a:r>
            <a:r>
              <a:rPr dirty="0"/>
              <a:t> </a:t>
            </a:r>
            <a:r>
              <a:rPr dirty="0" err="1"/>
              <a:t>augmentation이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CNN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향상에</a:t>
            </a:r>
            <a:r>
              <a:rPr dirty="0"/>
              <a:t> </a:t>
            </a:r>
            <a:r>
              <a:rPr dirty="0" err="1"/>
              <a:t>기여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3. PyTorch 재구현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461536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Keras에서</a:t>
            </a:r>
            <a:r>
              <a:rPr dirty="0"/>
              <a:t> </a:t>
            </a:r>
            <a:r>
              <a:rPr dirty="0" err="1"/>
              <a:t>도출한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구조를</a:t>
            </a:r>
            <a:r>
              <a:rPr dirty="0"/>
              <a:t> </a:t>
            </a:r>
            <a:r>
              <a:rPr dirty="0" err="1"/>
              <a:t>기준으로</a:t>
            </a:r>
            <a:r>
              <a:rPr dirty="0"/>
              <a:t> </a:t>
            </a:r>
            <a:r>
              <a:rPr dirty="0" err="1"/>
              <a:t>PyTorch에서도</a:t>
            </a:r>
            <a:r>
              <a:rPr dirty="0"/>
              <a:t> </a:t>
            </a:r>
            <a:r>
              <a:rPr dirty="0" err="1"/>
              <a:t>동일</a:t>
            </a:r>
            <a:r>
              <a:rPr dirty="0"/>
              <a:t> </a:t>
            </a:r>
            <a:r>
              <a:rPr dirty="0" err="1"/>
              <a:t>과제를</a:t>
            </a:r>
            <a:r>
              <a:rPr dirty="0"/>
              <a:t> </a:t>
            </a:r>
            <a:r>
              <a:rPr dirty="0" err="1"/>
              <a:t>재현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PyTorch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05740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Best Accuracy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50.70%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PyTorch CNN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205740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Best Macro F1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49.46%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PyTorch CNN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417320"/>
            <a:ext cx="205740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Best Test Loss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1.2832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PyTorch CNN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417320"/>
            <a:ext cx="2560320" cy="1188720"/>
          </a:xfrm>
          <a:prstGeom prst="roundRect">
            <a:avLst/>
          </a:prstGeom>
          <a:solidFill>
            <a:srgbClr val="F1F5FB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5CAD"/>
                </a:solidFill>
                <a:latin typeface="Malgun Gothic"/>
              </a:defRPr>
            </a:pPr>
            <a:r>
              <a:t>Key Finding</a:t>
            </a:r>
          </a:p>
          <a:p>
            <a:pPr>
              <a:defRPr sz="2000" b="1">
                <a:solidFill>
                  <a:srgbClr val="152644"/>
                </a:solidFill>
                <a:latin typeface="Malgun Gothic"/>
              </a:defRPr>
            </a:pPr>
            <a:r>
              <a:t>CNN &gt; DNN &gt; ANN</a:t>
            </a:r>
          </a:p>
          <a:p>
            <a:pPr>
              <a:defRPr sz="950">
                <a:solidFill>
                  <a:srgbClr val="5F6978"/>
                </a:solidFill>
                <a:latin typeface="Malgun Gothic"/>
              </a:defRPr>
            </a:pPr>
            <a:r>
              <a:t>Keras와 동일한 구조적 경향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055486"/>
              </p:ext>
            </p:extLst>
          </p:nvPr>
        </p:nvGraphicFramePr>
        <p:xfrm>
          <a:off x="731520" y="3203637"/>
          <a:ext cx="5760720" cy="1626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Test Loss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Train-Val Gap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128×128×1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1.4570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rPr dirty="0"/>
                        <a:t>39.36%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2.69%p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128×128×1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1.4545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42.06%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5.74%p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128×128×3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1.2832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49.46%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rPr dirty="0"/>
                        <a:t>7.28%p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20840" y="2880360"/>
            <a:ext cx="4800600" cy="224028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03903" y="2981220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요약</a:t>
            </a:r>
            <a:r>
              <a:rPr sz="1600" dirty="0"/>
              <a:t> </a:t>
            </a:r>
            <a:r>
              <a:rPr sz="1600" dirty="0" err="1"/>
              <a:t>해석</a:t>
            </a:r>
            <a:endParaRPr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931152" y="3504733"/>
            <a:ext cx="4389120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5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ANN은</a:t>
            </a:r>
            <a:r>
              <a:rPr dirty="0"/>
              <a:t> </a:t>
            </a:r>
            <a:r>
              <a:rPr dirty="0" err="1"/>
              <a:t>과적합보다</a:t>
            </a:r>
            <a:r>
              <a:rPr dirty="0"/>
              <a:t> </a:t>
            </a:r>
            <a:r>
              <a:rPr dirty="0" err="1"/>
              <a:t>표현력</a:t>
            </a:r>
            <a:r>
              <a:rPr dirty="0"/>
              <a:t> </a:t>
            </a:r>
            <a:r>
              <a:rPr dirty="0" err="1"/>
              <a:t>부족에</a:t>
            </a:r>
            <a:r>
              <a:rPr dirty="0"/>
              <a:t> </a:t>
            </a:r>
            <a:r>
              <a:rPr dirty="0" err="1"/>
              <a:t>가까운</a:t>
            </a:r>
            <a:r>
              <a:rPr dirty="0"/>
              <a:t> </a:t>
            </a:r>
            <a:r>
              <a:rPr dirty="0" err="1"/>
              <a:t>양상</a:t>
            </a: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5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DNN은</a:t>
            </a:r>
            <a:r>
              <a:rPr dirty="0"/>
              <a:t> </a:t>
            </a:r>
            <a:r>
              <a:rPr dirty="0" err="1"/>
              <a:t>LayerNorm</a:t>
            </a:r>
            <a:r>
              <a:rPr dirty="0"/>
              <a:t> </a:t>
            </a:r>
            <a:r>
              <a:rPr dirty="0" err="1"/>
              <a:t>효과로</a:t>
            </a:r>
            <a:r>
              <a:rPr dirty="0"/>
              <a:t> </a:t>
            </a:r>
            <a:r>
              <a:rPr dirty="0" err="1"/>
              <a:t>일부</a:t>
            </a:r>
            <a:r>
              <a:rPr dirty="0"/>
              <a:t>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개선</a:t>
            </a: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45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CNN은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보였지만</a:t>
            </a:r>
            <a:r>
              <a:rPr dirty="0"/>
              <a:t> sad / </a:t>
            </a:r>
            <a:r>
              <a:rPr dirty="0" err="1"/>
              <a:t>fear는</a:t>
            </a:r>
            <a:r>
              <a:rPr dirty="0"/>
              <a:t> </a:t>
            </a:r>
            <a:r>
              <a:rPr dirty="0" err="1"/>
              <a:t>여전히</a:t>
            </a:r>
            <a:r>
              <a:rPr dirty="0"/>
              <a:t> </a:t>
            </a:r>
            <a:r>
              <a:rPr dirty="0" err="1"/>
              <a:t>어려운</a:t>
            </a:r>
            <a:r>
              <a:rPr dirty="0"/>
              <a:t> </a:t>
            </a:r>
            <a:r>
              <a:rPr dirty="0" err="1"/>
              <a:t>클래스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623FD9-BAF6-4C39-E2D8-756F36033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7B5290-674C-6F8E-3D15-4A8A026321B8}"/>
              </a:ext>
            </a:extLst>
          </p:cNvPr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078A034-9AEC-15D8-023D-98B1899F0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272" y="347472"/>
            <a:ext cx="5414272" cy="651052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A5C600-C6D2-D567-7736-CB9AEC949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56" y="347472"/>
            <a:ext cx="5265366" cy="651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90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4. Keras vs PyTorch 최종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4091185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단일</a:t>
            </a:r>
            <a:r>
              <a:rPr dirty="0"/>
              <a:t> </a:t>
            </a:r>
            <a:r>
              <a:rPr dirty="0" err="1"/>
              <a:t>실험에서는</a:t>
            </a:r>
            <a:r>
              <a:rPr dirty="0"/>
              <a:t> </a:t>
            </a:r>
            <a:r>
              <a:rPr dirty="0" err="1"/>
              <a:t>Keras가</a:t>
            </a:r>
            <a:r>
              <a:rPr dirty="0"/>
              <a:t> 세 </a:t>
            </a: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더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성능을</a:t>
            </a:r>
            <a:r>
              <a:rPr dirty="0"/>
              <a:t> </a:t>
            </a:r>
            <a:r>
              <a:rPr dirty="0" err="1"/>
              <a:t>기록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371600"/>
          <a:ext cx="1097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675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675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719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Keras Acc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PyTorch Acc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Acc Diff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Keras F1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PyTorch F1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52644"/>
                          </a:solidFill>
                          <a:latin typeface="Malgun Gothic"/>
                        </a:defRPr>
                      </a:pPr>
                      <a:r>
                        <a:t>F1 Diff</a:t>
                      </a:r>
                    </a:p>
                  </a:txBody>
                  <a:tcPr>
                    <a:solidFill>
                      <a:srgbClr val="E6EE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ANN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44.89%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41.03%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+3.86%p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39.36%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+4.47%p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44.03%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42.71%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+1.32%p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43.46%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42.06%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+1.40%p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52.47%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+1.77%p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52.00%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49.46%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373F4D"/>
                          </a:solidFill>
                          <a:latin typeface="Malgun Gothic"/>
                        </a:defRPr>
                      </a:pPr>
                      <a:r>
                        <a:t>+2.55%p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icture 7" descr="accura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834640"/>
            <a:ext cx="5120640" cy="2907098"/>
          </a:xfrm>
          <a:prstGeom prst="rect">
            <a:avLst/>
          </a:prstGeom>
        </p:spPr>
      </p:pic>
      <p:pic>
        <p:nvPicPr>
          <p:cNvPr id="9" name="Picture 8" descr="macro_f1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834640"/>
            <a:ext cx="5120640" cy="29070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4. CNN 클래스별 성능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4876656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Framework가</a:t>
            </a:r>
            <a:r>
              <a:rPr dirty="0"/>
              <a:t> </a:t>
            </a:r>
            <a:r>
              <a:rPr dirty="0" err="1"/>
              <a:t>달라도</a:t>
            </a:r>
            <a:r>
              <a:rPr dirty="0"/>
              <a:t> </a:t>
            </a:r>
            <a:r>
              <a:rPr dirty="0" err="1"/>
              <a:t>쉬운</a:t>
            </a:r>
            <a:r>
              <a:rPr dirty="0"/>
              <a:t> </a:t>
            </a:r>
            <a:r>
              <a:rPr dirty="0" err="1"/>
              <a:t>클래스와</a:t>
            </a:r>
            <a:r>
              <a:rPr dirty="0"/>
              <a:t> </a:t>
            </a:r>
            <a:r>
              <a:rPr dirty="0" err="1"/>
              <a:t>어려운</a:t>
            </a:r>
            <a:r>
              <a:rPr dirty="0"/>
              <a:t> </a:t>
            </a:r>
            <a:r>
              <a:rPr dirty="0" err="1"/>
              <a:t>클래스의</a:t>
            </a:r>
            <a:r>
              <a:rPr dirty="0"/>
              <a:t> </a:t>
            </a:r>
            <a:r>
              <a:rPr dirty="0" err="1"/>
              <a:t>경향은</a:t>
            </a:r>
            <a:r>
              <a:rPr dirty="0"/>
              <a:t> </a:t>
            </a:r>
            <a:r>
              <a:rPr dirty="0" err="1"/>
              <a:t>유사하게</a:t>
            </a:r>
            <a:r>
              <a:rPr dirty="0"/>
              <a:t> 나</a:t>
            </a:r>
            <a:r>
              <a:rPr lang="ko-KR" altLang="en-US" dirty="0" err="1"/>
              <a:t>타남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Compare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09</a:t>
            </a:r>
          </a:p>
        </p:txBody>
      </p:sp>
      <p:pic>
        <p:nvPicPr>
          <p:cNvPr id="7" name="Picture 6" descr="cnn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7223760" cy="364028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417320"/>
            <a:ext cx="3429000" cy="438912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84739" y="1610542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핵심</a:t>
            </a:r>
            <a:r>
              <a:rPr sz="1600" dirty="0"/>
              <a:t> </a:t>
            </a:r>
            <a:r>
              <a:rPr sz="1600" dirty="0" err="1"/>
              <a:t>해석</a:t>
            </a:r>
            <a:endParaRPr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8247150" y="2022949"/>
            <a:ext cx="3154680" cy="3513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r>
              <a:rPr dirty="0"/>
              <a:t>happy, </a:t>
            </a:r>
            <a:r>
              <a:rPr dirty="0" err="1"/>
              <a:t>neutral는</a:t>
            </a:r>
            <a:r>
              <a:rPr dirty="0"/>
              <a:t> 두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높은</a:t>
            </a:r>
            <a:r>
              <a:rPr dirty="0"/>
              <a:t> F1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r>
              <a:rPr dirty="0"/>
              <a:t>sad, </a:t>
            </a:r>
            <a:r>
              <a:rPr dirty="0" err="1"/>
              <a:t>fear는</a:t>
            </a:r>
            <a:r>
              <a:rPr dirty="0"/>
              <a:t> 두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낮은</a:t>
            </a:r>
            <a:r>
              <a:rPr dirty="0"/>
              <a:t> </a:t>
            </a:r>
            <a:r>
              <a:rPr dirty="0" err="1"/>
              <a:t>성능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PyTorch는</a:t>
            </a:r>
            <a:r>
              <a:rPr dirty="0"/>
              <a:t> contempt, </a:t>
            </a:r>
            <a:r>
              <a:rPr dirty="0" err="1"/>
              <a:t>surprise에서</a:t>
            </a:r>
            <a:r>
              <a:rPr dirty="0"/>
              <a:t> </a:t>
            </a:r>
            <a:r>
              <a:rPr dirty="0" err="1"/>
              <a:t>Keras와</a:t>
            </a:r>
            <a:r>
              <a:rPr dirty="0"/>
              <a:t> </a:t>
            </a:r>
            <a:r>
              <a:rPr dirty="0" err="1"/>
              <a:t>유사하거나</a:t>
            </a:r>
            <a:r>
              <a:rPr dirty="0"/>
              <a:t> </a:t>
            </a:r>
            <a:r>
              <a:rPr dirty="0" err="1"/>
              <a:t>소폭</a:t>
            </a:r>
            <a:r>
              <a:rPr dirty="0"/>
              <a:t> </a:t>
            </a:r>
            <a:r>
              <a:rPr dirty="0" err="1"/>
              <a:t>우세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PyTorch는</a:t>
            </a:r>
            <a:r>
              <a:rPr dirty="0"/>
              <a:t> sad, </a:t>
            </a:r>
            <a:r>
              <a:rPr dirty="0" err="1"/>
              <a:t>disgust에서</a:t>
            </a:r>
            <a:r>
              <a:rPr dirty="0"/>
              <a:t> </a:t>
            </a:r>
            <a:r>
              <a:rPr dirty="0" err="1"/>
              <a:t>상대적으로</a:t>
            </a:r>
            <a:r>
              <a:rPr dirty="0"/>
              <a:t> 큰 </a:t>
            </a:r>
            <a:r>
              <a:rPr dirty="0" err="1"/>
              <a:t>저하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35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저성능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 </a:t>
            </a:r>
            <a:r>
              <a:rPr dirty="0" err="1"/>
              <a:t>중심의</a:t>
            </a:r>
            <a:r>
              <a:rPr dirty="0"/>
              <a:t> confusion matrix </a:t>
            </a:r>
            <a:r>
              <a:rPr dirty="0" err="1"/>
              <a:t>분석이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5. 종합 해석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535274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rPr dirty="0" err="1"/>
              <a:t>결과를</a:t>
            </a:r>
            <a:r>
              <a:rPr dirty="0"/>
              <a:t>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절대</a:t>
            </a:r>
            <a:r>
              <a:rPr dirty="0"/>
              <a:t> </a:t>
            </a:r>
            <a:r>
              <a:rPr dirty="0" err="1"/>
              <a:t>우열이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 ‘</a:t>
            </a:r>
            <a:r>
              <a:rPr dirty="0" err="1"/>
              <a:t>구현</a:t>
            </a:r>
            <a:r>
              <a:rPr dirty="0"/>
              <a:t>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차이’까지</a:t>
            </a:r>
            <a:r>
              <a:rPr dirty="0"/>
              <a:t> </a:t>
            </a:r>
            <a:r>
              <a:rPr dirty="0" err="1"/>
              <a:t>포함해</a:t>
            </a:r>
            <a:r>
              <a:rPr dirty="0"/>
              <a:t> </a:t>
            </a:r>
            <a:r>
              <a:rPr dirty="0" err="1"/>
              <a:t>해석할</a:t>
            </a:r>
            <a:r>
              <a:rPr dirty="0"/>
              <a:t> </a:t>
            </a:r>
            <a:r>
              <a:rPr dirty="0" err="1"/>
              <a:t>필요가</a:t>
            </a:r>
            <a:r>
              <a:rPr lang="en-US" dirty="0"/>
              <a:t> </a:t>
            </a:r>
            <a:r>
              <a:rPr lang="ko-KR" altLang="en-US" dirty="0"/>
              <a:t>있음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0129" y="1601766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핵심</a:t>
            </a:r>
            <a:r>
              <a:rPr sz="1600" dirty="0"/>
              <a:t> </a:t>
            </a:r>
            <a:r>
              <a:rPr sz="1600" dirty="0" err="1"/>
              <a:t>해석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68680" y="2173093"/>
            <a:ext cx="48463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실험에서는</a:t>
            </a:r>
            <a:r>
              <a:rPr dirty="0"/>
              <a:t> </a:t>
            </a:r>
            <a:r>
              <a:rPr dirty="0" err="1"/>
              <a:t>Keras가</a:t>
            </a:r>
            <a:r>
              <a:rPr dirty="0"/>
              <a:t> </a:t>
            </a:r>
            <a:r>
              <a:rPr dirty="0" err="1"/>
              <a:t>모든</a:t>
            </a:r>
            <a:r>
              <a:rPr dirty="0"/>
              <a:t> </a:t>
            </a:r>
            <a:r>
              <a:rPr dirty="0" err="1"/>
              <a:t>모델에서</a:t>
            </a:r>
            <a:r>
              <a:rPr dirty="0"/>
              <a:t> 더 </a:t>
            </a:r>
            <a:r>
              <a:rPr dirty="0" err="1"/>
              <a:t>높은</a:t>
            </a:r>
            <a:r>
              <a:rPr dirty="0"/>
              <a:t> </a:t>
            </a:r>
            <a:r>
              <a:rPr dirty="0" err="1"/>
              <a:t>성능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하지만</a:t>
            </a:r>
            <a:r>
              <a:rPr dirty="0"/>
              <a:t> </a:t>
            </a:r>
            <a:r>
              <a:rPr dirty="0" err="1"/>
              <a:t>이것을</a:t>
            </a:r>
            <a:r>
              <a:rPr dirty="0"/>
              <a:t>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절대</a:t>
            </a:r>
            <a:r>
              <a:rPr dirty="0"/>
              <a:t> </a:t>
            </a:r>
            <a:r>
              <a:rPr dirty="0" err="1"/>
              <a:t>우위로</a:t>
            </a:r>
            <a:r>
              <a:rPr dirty="0"/>
              <a:t> </a:t>
            </a:r>
            <a:r>
              <a:rPr dirty="0" err="1"/>
              <a:t>단정하기는</a:t>
            </a:r>
            <a:r>
              <a:rPr dirty="0"/>
              <a:t> </a:t>
            </a:r>
            <a:r>
              <a:rPr dirty="0" err="1"/>
              <a:t>어려움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이유</a:t>
            </a:r>
            <a:r>
              <a:rPr dirty="0"/>
              <a:t>: </a:t>
            </a:r>
            <a:r>
              <a:rPr dirty="0" err="1"/>
              <a:t>초기화</a:t>
            </a:r>
            <a:r>
              <a:rPr dirty="0"/>
              <a:t> </a:t>
            </a:r>
            <a:r>
              <a:rPr dirty="0" err="1"/>
              <a:t>방식</a:t>
            </a:r>
            <a:r>
              <a:rPr dirty="0"/>
              <a:t>, Optimizer </a:t>
            </a:r>
            <a:r>
              <a:rPr dirty="0" err="1"/>
              <a:t>세부</a:t>
            </a:r>
            <a:r>
              <a:rPr dirty="0"/>
              <a:t> </a:t>
            </a:r>
            <a:r>
              <a:rPr dirty="0" err="1"/>
              <a:t>설정</a:t>
            </a:r>
            <a:r>
              <a:rPr dirty="0"/>
              <a:t>, </a:t>
            </a:r>
            <a:r>
              <a:rPr dirty="0" err="1"/>
              <a:t>증강</a:t>
            </a:r>
            <a:r>
              <a:rPr dirty="0"/>
              <a:t> </a:t>
            </a:r>
            <a:r>
              <a:rPr dirty="0" err="1"/>
              <a:t>구현</a:t>
            </a:r>
            <a:r>
              <a:rPr dirty="0"/>
              <a:t>,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연산</a:t>
            </a:r>
            <a:r>
              <a:rPr dirty="0"/>
              <a:t> </a:t>
            </a:r>
            <a:r>
              <a:rPr dirty="0" err="1"/>
              <a:t>차이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보다</a:t>
            </a:r>
            <a:r>
              <a:rPr dirty="0"/>
              <a:t> </a:t>
            </a:r>
            <a:r>
              <a:rPr dirty="0" err="1"/>
              <a:t>중요한</a:t>
            </a:r>
            <a:r>
              <a:rPr dirty="0"/>
              <a:t> </a:t>
            </a:r>
            <a:r>
              <a:rPr dirty="0" err="1"/>
              <a:t>공통점은</a:t>
            </a:r>
            <a:r>
              <a:rPr dirty="0"/>
              <a:t> 두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우수했다는</a:t>
            </a:r>
            <a:r>
              <a:rPr dirty="0"/>
              <a:t> 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349240" cy="448056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7625" y="1611004"/>
            <a:ext cx="176522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이번</a:t>
            </a:r>
            <a:r>
              <a:rPr sz="1600" dirty="0"/>
              <a:t> </a:t>
            </a:r>
            <a:r>
              <a:rPr sz="1600" dirty="0" err="1"/>
              <a:t>실험의</a:t>
            </a:r>
            <a:r>
              <a:rPr sz="1600" dirty="0"/>
              <a:t> </a:t>
            </a:r>
            <a:r>
              <a:rPr sz="1600" dirty="0" err="1"/>
              <a:t>의미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281843"/>
            <a:ext cx="4892040" cy="2785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모델</a:t>
            </a:r>
            <a:r>
              <a:rPr dirty="0"/>
              <a:t> </a:t>
            </a:r>
            <a:r>
              <a:rPr dirty="0" err="1"/>
              <a:t>구조</a:t>
            </a:r>
            <a:r>
              <a:rPr dirty="0"/>
              <a:t> </a:t>
            </a:r>
            <a:r>
              <a:rPr dirty="0" err="1"/>
              <a:t>차이가</a:t>
            </a:r>
            <a:r>
              <a:rPr dirty="0"/>
              <a:t> </a:t>
            </a:r>
            <a:r>
              <a:rPr dirty="0" err="1"/>
              <a:t>프레임워크</a:t>
            </a:r>
            <a:r>
              <a:rPr dirty="0"/>
              <a:t> </a:t>
            </a:r>
            <a:r>
              <a:rPr dirty="0" err="1"/>
              <a:t>차이보다</a:t>
            </a:r>
            <a:r>
              <a:rPr dirty="0"/>
              <a:t> 더 큰 </a:t>
            </a:r>
            <a:r>
              <a:rPr dirty="0" err="1"/>
              <a:t>영향을</a:t>
            </a:r>
            <a:r>
              <a:rPr dirty="0"/>
              <a:t> 줌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/>
              <a:t>Flatten </a:t>
            </a:r>
            <a:r>
              <a:rPr dirty="0" err="1"/>
              <a:t>기반</a:t>
            </a:r>
            <a:r>
              <a:rPr dirty="0"/>
              <a:t> ANN/</a:t>
            </a:r>
            <a:r>
              <a:rPr dirty="0" err="1"/>
              <a:t>DNN보다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이미지</a:t>
            </a:r>
            <a:r>
              <a:rPr dirty="0"/>
              <a:t> </a:t>
            </a:r>
            <a:r>
              <a:rPr dirty="0" err="1"/>
              <a:t>분류에</a:t>
            </a:r>
            <a:r>
              <a:rPr dirty="0"/>
              <a:t> </a:t>
            </a:r>
            <a:r>
              <a:rPr dirty="0" err="1"/>
              <a:t>적합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DNN은</a:t>
            </a:r>
            <a:r>
              <a:rPr dirty="0"/>
              <a:t> </a:t>
            </a:r>
            <a:r>
              <a:rPr dirty="0" err="1"/>
              <a:t>LayerNorm</a:t>
            </a:r>
            <a:r>
              <a:rPr dirty="0"/>
              <a:t> </a:t>
            </a:r>
            <a:r>
              <a:rPr dirty="0" err="1"/>
              <a:t>적용이</a:t>
            </a:r>
            <a:r>
              <a:rPr dirty="0"/>
              <a:t> </a:t>
            </a:r>
            <a:r>
              <a:rPr dirty="0" err="1"/>
              <a:t>유효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5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CNN은</a:t>
            </a:r>
            <a:r>
              <a:rPr dirty="0"/>
              <a:t> RGB + augmentation + callback </a:t>
            </a:r>
            <a:r>
              <a:rPr dirty="0" err="1"/>
              <a:t>조합이</a:t>
            </a:r>
            <a:r>
              <a:rPr dirty="0"/>
              <a:t>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후보로</a:t>
            </a:r>
            <a:r>
              <a:rPr dirty="0"/>
              <a:t> </a:t>
            </a:r>
            <a:r>
              <a:rPr dirty="0" err="1"/>
              <a:t>타당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15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644"/>
                </a:solidFill>
                <a:latin typeface="Malgun Gothic"/>
              </a:defRPr>
            </a:pPr>
            <a:r>
              <a:t>6. 결론 및 향후 실험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87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8"/>
                </a:solidFill>
                <a:latin typeface="Malgun Gothic"/>
              </a:defRPr>
            </a:pPr>
            <a:r>
              <a:t>발표 마무리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0" y="512064"/>
            <a:ext cx="1600200" cy="347472"/>
          </a:xfrm>
          <a:prstGeom prst="roundRect">
            <a:avLst/>
          </a:prstGeom>
          <a:solidFill>
            <a:srgbClr val="E6EEFA"/>
          </a:solidFill>
          <a:ln>
            <a:solidFill>
              <a:srgbClr val="265C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65CAD"/>
                </a:solidFill>
                <a:latin typeface="Malgun Gothic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8"/>
                </a:solidFill>
                <a:latin typeface="Malgun Gothic"/>
              </a:defRPr>
            </a:pPr>
            <a:r>
              <a:t>Emotion Classification Experiment Summary  | 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94960" cy="452628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6339" y="1647946"/>
            <a:ext cx="59503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결론</a:t>
            </a:r>
            <a:endParaRPr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868680" y="2318787"/>
            <a:ext cx="489204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Keras와</a:t>
            </a:r>
            <a:r>
              <a:rPr dirty="0"/>
              <a:t> </a:t>
            </a:r>
            <a:r>
              <a:rPr dirty="0" err="1"/>
              <a:t>PyTorch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우수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Keras는</a:t>
            </a:r>
            <a:r>
              <a:rPr dirty="0"/>
              <a:t> </a:t>
            </a:r>
            <a:r>
              <a:rPr dirty="0" err="1"/>
              <a:t>이번</a:t>
            </a:r>
            <a:r>
              <a:rPr dirty="0"/>
              <a:t> </a:t>
            </a:r>
            <a:r>
              <a:rPr dirty="0" err="1"/>
              <a:t>실험에서</a:t>
            </a:r>
            <a:r>
              <a:rPr dirty="0"/>
              <a:t> </a:t>
            </a:r>
            <a:r>
              <a:rPr dirty="0" err="1"/>
              <a:t>Accuracy와</a:t>
            </a:r>
            <a:r>
              <a:rPr dirty="0"/>
              <a:t> Macro F1이 </a:t>
            </a:r>
            <a:r>
              <a:rPr dirty="0" err="1"/>
              <a:t>전반적으로</a:t>
            </a:r>
            <a:r>
              <a:rPr dirty="0"/>
              <a:t> 더 </a:t>
            </a:r>
            <a:r>
              <a:rPr dirty="0" err="1"/>
              <a:t>높음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DNN은</a:t>
            </a:r>
            <a:r>
              <a:rPr dirty="0"/>
              <a:t> </a:t>
            </a:r>
            <a:r>
              <a:rPr dirty="0" err="1"/>
              <a:t>LayerNorm</a:t>
            </a:r>
            <a:r>
              <a:rPr dirty="0"/>
              <a:t> </a:t>
            </a:r>
            <a:r>
              <a:rPr dirty="0" err="1"/>
              <a:t>적용이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안정적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감정</a:t>
            </a:r>
            <a:r>
              <a:rPr dirty="0"/>
              <a:t> </a:t>
            </a:r>
            <a:r>
              <a:rPr dirty="0" err="1"/>
              <a:t>분류에서는</a:t>
            </a:r>
            <a:r>
              <a:rPr dirty="0"/>
              <a:t> </a:t>
            </a:r>
            <a:r>
              <a:rPr dirty="0" err="1"/>
              <a:t>공간적</a:t>
            </a:r>
            <a:r>
              <a:rPr dirty="0"/>
              <a:t> </a:t>
            </a:r>
            <a:r>
              <a:rPr dirty="0" err="1"/>
              <a:t>얼굴</a:t>
            </a:r>
            <a:r>
              <a:rPr dirty="0"/>
              <a:t> </a:t>
            </a:r>
            <a:r>
              <a:rPr dirty="0" err="1"/>
              <a:t>특징</a:t>
            </a:r>
            <a:r>
              <a:rPr dirty="0"/>
              <a:t> </a:t>
            </a:r>
            <a:r>
              <a:rPr dirty="0" err="1"/>
              <a:t>추출이</a:t>
            </a:r>
            <a:r>
              <a:rPr dirty="0"/>
              <a:t> </a:t>
            </a:r>
            <a:r>
              <a:rPr dirty="0" err="1"/>
              <a:t>핵심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257800" cy="4526280"/>
          </a:xfrm>
          <a:prstGeom prst="roundRect">
            <a:avLst/>
          </a:prstGeom>
          <a:solidFill>
            <a:srgbClr val="F7F9FC"/>
          </a:solidFill>
          <a:ln>
            <a:solidFill>
              <a:srgbClr val="E6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49902" y="1583293"/>
            <a:ext cx="10775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644"/>
                </a:solidFill>
                <a:latin typeface="Malgun Gothic"/>
              </a:defRPr>
            </a:pPr>
            <a:r>
              <a:rPr sz="1600" dirty="0" err="1"/>
              <a:t>향후</a:t>
            </a:r>
            <a:r>
              <a:rPr sz="1600" dirty="0"/>
              <a:t> </a:t>
            </a:r>
            <a:r>
              <a:rPr sz="1600" dirty="0" err="1"/>
              <a:t>실험</a:t>
            </a:r>
            <a:endParaRPr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473952" y="2087876"/>
            <a:ext cx="48006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Conv 1개 → Pool </a:t>
            </a:r>
            <a:r>
              <a:rPr dirty="0" err="1"/>
              <a:t>구조를</a:t>
            </a:r>
            <a:r>
              <a:rPr dirty="0"/>
              <a:t> Conv 2개 → Pool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변경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Flip only / Rotation only / </a:t>
            </a:r>
            <a:r>
              <a:rPr dirty="0" err="1"/>
              <a:t>Flip+Rotation</a:t>
            </a:r>
            <a:r>
              <a:rPr dirty="0"/>
              <a:t> ablation </a:t>
            </a:r>
            <a:r>
              <a:rPr dirty="0" err="1"/>
              <a:t>수행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/>
              <a:t>Learning Rate 0.001 → 0.0005 </a:t>
            </a:r>
            <a:r>
              <a:rPr dirty="0" err="1"/>
              <a:t>실험</a:t>
            </a:r>
            <a:endParaRPr lang="en-US"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endParaRPr dirty="0"/>
          </a:p>
          <a:p>
            <a:pPr marL="285750" indent="-285750">
              <a:spcAft>
                <a:spcPts val="500"/>
              </a:spcAft>
              <a:buFont typeface="Wingdings" panose="05000000000000000000" pitchFamily="2" charset="2"/>
              <a:buChar char="§"/>
              <a:defRPr sz="1600">
                <a:solidFill>
                  <a:srgbClr val="373F4D"/>
                </a:solidFill>
                <a:latin typeface="Malgun Gothic"/>
              </a:defRPr>
            </a:pPr>
            <a:r>
              <a:rPr dirty="0" err="1"/>
              <a:t>다중</a:t>
            </a:r>
            <a:r>
              <a:rPr dirty="0"/>
              <a:t> seed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재현성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1067</Words>
  <Application>Microsoft Office PowerPoint</Application>
  <PresentationFormat>와이드스크린</PresentationFormat>
  <Paragraphs>285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이동현</cp:lastModifiedBy>
  <cp:revision>20</cp:revision>
  <dcterms:created xsi:type="dcterms:W3CDTF">2013-01-27T09:14:16Z</dcterms:created>
  <dcterms:modified xsi:type="dcterms:W3CDTF">2026-09-02T00:08:12Z</dcterms:modified>
  <cp:category/>
</cp:coreProperties>
</file>