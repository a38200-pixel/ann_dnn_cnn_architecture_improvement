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7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7505C-9327-CE94-580B-38C38ABF0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44FA7D67-9DA6-FEE2-C2C0-B5CFD18D6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FAE1750-42DA-2DBC-9E23-791D8C5CF88E}"/>
              </a:ext>
            </a:extLst>
          </p:cNvPr>
          <p:cNvSpPr txBox="1"/>
          <p:nvPr/>
        </p:nvSpPr>
        <p:spPr>
          <a:xfrm>
            <a:off x="240145" y="1126836"/>
            <a:ext cx="88853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b="1" dirty="0">
                <a:latin typeface="+mj-ea"/>
                <a:ea typeface="+mj-ea"/>
              </a:rPr>
              <a:t>Children’s Facial Emotion Classification: Experimental Results</a:t>
            </a:r>
            <a:endParaRPr lang="ko-KR" altLang="en-US" sz="3600" b="1" dirty="0">
              <a:latin typeface="+mj-ea"/>
              <a:ea typeface="+mj-ea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562EEBD3-F1BB-8529-64DE-539778C60AFA}"/>
              </a:ext>
            </a:extLst>
          </p:cNvPr>
          <p:cNvSpPr/>
          <p:nvPr/>
        </p:nvSpPr>
        <p:spPr>
          <a:xfrm>
            <a:off x="1126832" y="3371256"/>
            <a:ext cx="1052945" cy="368657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9EEA0C7A-A91C-B13E-614D-5A13456E962F}"/>
              </a:ext>
            </a:extLst>
          </p:cNvPr>
          <p:cNvSpPr/>
          <p:nvPr/>
        </p:nvSpPr>
        <p:spPr>
          <a:xfrm>
            <a:off x="1126830" y="4179439"/>
            <a:ext cx="1052947" cy="368656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7B280ACE-ED83-7BB9-B3B0-EAE63478AEF1}"/>
              </a:ext>
            </a:extLst>
          </p:cNvPr>
          <p:cNvSpPr/>
          <p:nvPr/>
        </p:nvSpPr>
        <p:spPr>
          <a:xfrm>
            <a:off x="1126829" y="4933003"/>
            <a:ext cx="1052945" cy="368656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919E02-068D-1C68-317B-E1A6E7061A16}"/>
              </a:ext>
            </a:extLst>
          </p:cNvPr>
          <p:cNvSpPr txBox="1"/>
          <p:nvPr/>
        </p:nvSpPr>
        <p:spPr>
          <a:xfrm>
            <a:off x="1354503" y="3371257"/>
            <a:ext cx="631311" cy="368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ANN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6FF67D2-DEF1-175A-C0E3-1402FD359CC2}"/>
              </a:ext>
            </a:extLst>
          </p:cNvPr>
          <p:cNvSpPr txBox="1"/>
          <p:nvPr/>
        </p:nvSpPr>
        <p:spPr>
          <a:xfrm>
            <a:off x="1330031" y="4179439"/>
            <a:ext cx="683492" cy="368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DNN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3645253-13CD-1CDC-5C59-DEB96642E143}"/>
              </a:ext>
            </a:extLst>
          </p:cNvPr>
          <p:cNvSpPr txBox="1"/>
          <p:nvPr/>
        </p:nvSpPr>
        <p:spPr>
          <a:xfrm>
            <a:off x="1354504" y="4933003"/>
            <a:ext cx="659020" cy="368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CNN</a:t>
            </a:r>
            <a:endParaRPr lang="ko-KR" altLang="en-US" dirty="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A03874F-6729-4C23-14E3-7889EFE8D4BA}"/>
              </a:ext>
            </a:extLst>
          </p:cNvPr>
          <p:cNvSpPr/>
          <p:nvPr/>
        </p:nvSpPr>
        <p:spPr>
          <a:xfrm>
            <a:off x="3223487" y="3371257"/>
            <a:ext cx="1052945" cy="368657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1925ED50-2ABB-B043-DF24-50D9AC7E54DC}"/>
              </a:ext>
            </a:extLst>
          </p:cNvPr>
          <p:cNvSpPr/>
          <p:nvPr/>
        </p:nvSpPr>
        <p:spPr>
          <a:xfrm>
            <a:off x="3223485" y="4179440"/>
            <a:ext cx="1052947" cy="368656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DAA3537F-8013-0D21-6D02-EE3DBD7189D9}"/>
              </a:ext>
            </a:extLst>
          </p:cNvPr>
          <p:cNvSpPr/>
          <p:nvPr/>
        </p:nvSpPr>
        <p:spPr>
          <a:xfrm>
            <a:off x="3223484" y="4933004"/>
            <a:ext cx="1052945" cy="368656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A4BB91-B04D-65F8-EBE3-73266B9FECEF}"/>
              </a:ext>
            </a:extLst>
          </p:cNvPr>
          <p:cNvSpPr txBox="1"/>
          <p:nvPr/>
        </p:nvSpPr>
        <p:spPr>
          <a:xfrm>
            <a:off x="3451158" y="3371258"/>
            <a:ext cx="631311" cy="368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ANN</a:t>
            </a:r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CDEC643-B547-13B6-62D0-54DBE06F65FD}"/>
              </a:ext>
            </a:extLst>
          </p:cNvPr>
          <p:cNvSpPr txBox="1"/>
          <p:nvPr/>
        </p:nvSpPr>
        <p:spPr>
          <a:xfrm>
            <a:off x="3426686" y="4179440"/>
            <a:ext cx="683492" cy="368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DNN</a:t>
            </a:r>
            <a:endParaRPr lang="ko-KR" alt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40AA3B9-77DB-FAA4-EC88-FF5E86E89E72}"/>
              </a:ext>
            </a:extLst>
          </p:cNvPr>
          <p:cNvSpPr txBox="1"/>
          <p:nvPr/>
        </p:nvSpPr>
        <p:spPr>
          <a:xfrm>
            <a:off x="3451159" y="4933004"/>
            <a:ext cx="659020" cy="368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CNN</a:t>
            </a:r>
            <a:endParaRPr lang="ko-KR" altLang="en-US" dirty="0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991FB585-B675-E6B2-DF31-3F054B3910F2}"/>
              </a:ext>
            </a:extLst>
          </p:cNvPr>
          <p:cNvSpPr/>
          <p:nvPr/>
        </p:nvSpPr>
        <p:spPr>
          <a:xfrm>
            <a:off x="923631" y="2647408"/>
            <a:ext cx="1403927" cy="368657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37E711E6-0051-9CE3-6D29-994C63A700ED}"/>
              </a:ext>
            </a:extLst>
          </p:cNvPr>
          <p:cNvSpPr/>
          <p:nvPr/>
        </p:nvSpPr>
        <p:spPr>
          <a:xfrm>
            <a:off x="3072464" y="2654335"/>
            <a:ext cx="1403927" cy="368657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F63250C-AE7A-98FE-87E0-84919D107C35}"/>
              </a:ext>
            </a:extLst>
          </p:cNvPr>
          <p:cNvSpPr txBox="1"/>
          <p:nvPr/>
        </p:nvSpPr>
        <p:spPr>
          <a:xfrm>
            <a:off x="1311556" y="2654335"/>
            <a:ext cx="748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Keras</a:t>
            </a:r>
            <a:endParaRPr lang="ko-KR" alt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E1E8CA4-2422-A779-4A92-AF196E77015D}"/>
              </a:ext>
            </a:extLst>
          </p:cNvPr>
          <p:cNvSpPr txBox="1"/>
          <p:nvPr/>
        </p:nvSpPr>
        <p:spPr>
          <a:xfrm>
            <a:off x="3334323" y="2661448"/>
            <a:ext cx="942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Pytorch</a:t>
            </a:r>
            <a:endParaRPr lang="ko-KR" altLang="en-US" dirty="0"/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AA181031-EDA6-7232-DEB3-53F88D6A6E35}"/>
              </a:ext>
            </a:extLst>
          </p:cNvPr>
          <p:cNvCxnSpPr/>
          <p:nvPr/>
        </p:nvCxnSpPr>
        <p:spPr>
          <a:xfrm>
            <a:off x="2697017" y="2438400"/>
            <a:ext cx="0" cy="31126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EF885BE2-C714-0554-2D12-203300D473D2}"/>
              </a:ext>
            </a:extLst>
          </p:cNvPr>
          <p:cNvCxnSpPr/>
          <p:nvPr/>
        </p:nvCxnSpPr>
        <p:spPr>
          <a:xfrm>
            <a:off x="683491" y="2438400"/>
            <a:ext cx="0" cy="31126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0A0036E1-F591-0F0F-E3F0-DCCE3FC74F63}"/>
              </a:ext>
            </a:extLst>
          </p:cNvPr>
          <p:cNvCxnSpPr/>
          <p:nvPr/>
        </p:nvCxnSpPr>
        <p:spPr>
          <a:xfrm>
            <a:off x="4747491" y="2438400"/>
            <a:ext cx="0" cy="31126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37272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5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483978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52644"/>
                </a:solidFill>
                <a:latin typeface="Malgun Gothic"/>
              </a:defRPr>
            </a:pPr>
            <a:r>
              <a:rPr dirty="0" err="1"/>
              <a:t>어린이</a:t>
            </a:r>
            <a:r>
              <a:rPr dirty="0"/>
              <a:t> </a:t>
            </a:r>
            <a:r>
              <a:rPr dirty="0" err="1"/>
              <a:t>얼굴</a:t>
            </a:r>
            <a:r>
              <a:rPr dirty="0"/>
              <a:t> </a:t>
            </a:r>
            <a:r>
              <a:rPr dirty="0" err="1"/>
              <a:t>감정</a:t>
            </a:r>
            <a:r>
              <a:rPr dirty="0"/>
              <a:t> </a:t>
            </a:r>
            <a:r>
              <a:rPr dirty="0" err="1"/>
              <a:t>분류</a:t>
            </a:r>
            <a:r>
              <a:rPr dirty="0"/>
              <a:t> </a:t>
            </a:r>
            <a:r>
              <a:rPr dirty="0" err="1"/>
              <a:t>실험</a:t>
            </a:r>
            <a:r>
              <a:rPr lang="en-US" dirty="0"/>
              <a:t> </a:t>
            </a:r>
            <a:r>
              <a:rPr lang="ko-KR" altLang="en-US" dirty="0"/>
              <a:t>결과</a:t>
            </a:r>
            <a:r>
              <a:rPr dirty="0"/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87552"/>
            <a:ext cx="4011034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F6978"/>
                </a:solidFill>
                <a:latin typeface="Malgun Gothic"/>
              </a:defRPr>
            </a:pPr>
            <a:r>
              <a:rPr sz="1200" b="1" u="sng" dirty="0"/>
              <a:t>ANN / DNN / CNN </a:t>
            </a:r>
            <a:r>
              <a:rPr sz="1200" b="1" u="sng" dirty="0" err="1"/>
              <a:t>구조</a:t>
            </a:r>
            <a:r>
              <a:rPr sz="1200" b="1" u="sng" dirty="0"/>
              <a:t> </a:t>
            </a:r>
            <a:r>
              <a:rPr sz="1200" b="1" u="sng" dirty="0" err="1"/>
              <a:t>개선</a:t>
            </a:r>
            <a:r>
              <a:rPr sz="1050" dirty="0" err="1"/>
              <a:t>과</a:t>
            </a:r>
            <a:r>
              <a:rPr sz="1200" b="1" u="sng" dirty="0"/>
              <a:t> </a:t>
            </a:r>
            <a:r>
              <a:rPr dirty="0" err="1"/>
              <a:t>Keras·PyTorch</a:t>
            </a:r>
            <a:r>
              <a:rPr dirty="0"/>
              <a:t> </a:t>
            </a:r>
            <a:r>
              <a:rPr dirty="0" err="1"/>
              <a:t>비교</a:t>
            </a:r>
            <a:r>
              <a:rPr dirty="0"/>
              <a:t> </a:t>
            </a:r>
            <a:r>
              <a:rPr dirty="0" err="1"/>
              <a:t>요약</a:t>
            </a: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10058400" y="512064"/>
            <a:ext cx="1600200" cy="347472"/>
          </a:xfrm>
          <a:prstGeom prst="roundRect">
            <a:avLst/>
          </a:prstGeom>
          <a:solidFill>
            <a:srgbClr val="E6EEFA"/>
          </a:solidFill>
          <a:ln>
            <a:solidFill>
              <a:srgbClr val="26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265CAD"/>
                </a:solidFill>
                <a:latin typeface="Malgun Gothic"/>
              </a:defRPr>
            </a:pPr>
            <a: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46520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F6978"/>
                </a:solidFill>
                <a:latin typeface="Malgun Gothic"/>
              </a:defRPr>
            </a:pPr>
            <a:r>
              <a:t>Emotion Classification Experiment Summary  |  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5394960" cy="416052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43215" y="1581912"/>
            <a:ext cx="107753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52644"/>
                </a:solidFill>
                <a:latin typeface="Malgun Gothic"/>
              </a:defRPr>
            </a:pPr>
            <a:r>
              <a:rPr sz="1600" dirty="0" err="1"/>
              <a:t>연구</a:t>
            </a:r>
            <a:r>
              <a:rPr sz="1600" dirty="0"/>
              <a:t> </a:t>
            </a:r>
            <a:r>
              <a:rPr sz="1600" dirty="0" err="1"/>
              <a:t>개요</a:t>
            </a:r>
            <a:endParaRPr sz="1600" dirty="0"/>
          </a:p>
        </p:txBody>
      </p:sp>
      <p:sp>
        <p:nvSpPr>
          <p:cNvPr id="9" name="TextBox 8"/>
          <p:cNvSpPr txBox="1"/>
          <p:nvPr/>
        </p:nvSpPr>
        <p:spPr>
          <a:xfrm>
            <a:off x="868679" y="1874519"/>
            <a:ext cx="5102351" cy="3688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700">
                <a:solidFill>
                  <a:srgbClr val="373F4D"/>
                </a:solidFill>
                <a:latin typeface="Malgun Gothic"/>
              </a:defRPr>
            </a:pPr>
            <a:r>
              <a:rPr lang="ko-KR" altLang="en-US" sz="1600" dirty="0"/>
              <a:t>데이터셋</a:t>
            </a:r>
            <a:r>
              <a:rPr lang="en-US" altLang="ko-KR" sz="1600" dirty="0"/>
              <a:t>: Kaggle -Young </a:t>
            </a:r>
            <a:r>
              <a:rPr lang="en-US" altLang="ko-KR" sz="1600" dirty="0" err="1"/>
              <a:t>AffectNet</a:t>
            </a:r>
            <a:r>
              <a:rPr lang="en-US" altLang="ko-KR" sz="1600" dirty="0"/>
              <a:t> HQ 14648</a:t>
            </a:r>
            <a:r>
              <a:rPr lang="ko-KR" altLang="en-US" sz="1600" dirty="0"/>
              <a:t>장</a:t>
            </a:r>
            <a:endParaRPr lang="en-US" altLang="ko-KR" sz="1600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700">
                <a:solidFill>
                  <a:srgbClr val="373F4D"/>
                </a:solidFill>
                <a:latin typeface="Malgun Gothic"/>
              </a:defRPr>
            </a:pPr>
            <a:endParaRPr lang="en-US" sz="1600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700">
                <a:solidFill>
                  <a:srgbClr val="373F4D"/>
                </a:solidFill>
                <a:latin typeface="Malgun Gothic"/>
              </a:defRPr>
            </a:pPr>
            <a:r>
              <a:rPr sz="1600" dirty="0" err="1"/>
              <a:t>분류</a:t>
            </a:r>
            <a:r>
              <a:rPr sz="1600" dirty="0"/>
              <a:t> </a:t>
            </a:r>
            <a:r>
              <a:rPr sz="1600" dirty="0" err="1"/>
              <a:t>대상</a:t>
            </a:r>
            <a:r>
              <a:rPr sz="1600" dirty="0"/>
              <a:t>: anger, contempt, disgust, fear, happy, neutral, sad, surprise</a:t>
            </a:r>
            <a:endParaRPr lang="en-US" sz="1600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700">
                <a:solidFill>
                  <a:srgbClr val="373F4D"/>
                </a:solidFill>
                <a:latin typeface="Malgun Gothic"/>
              </a:defRPr>
            </a:pPr>
            <a:endParaRPr sz="1600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700">
                <a:solidFill>
                  <a:srgbClr val="373F4D"/>
                </a:solidFill>
                <a:latin typeface="Malgun Gothic"/>
              </a:defRPr>
            </a:pPr>
            <a:r>
              <a:rPr sz="1600" dirty="0" err="1"/>
              <a:t>입력</a:t>
            </a:r>
            <a:r>
              <a:rPr sz="1600" dirty="0"/>
              <a:t> </a:t>
            </a:r>
            <a:r>
              <a:rPr sz="1600" dirty="0" err="1"/>
              <a:t>크기</a:t>
            </a:r>
            <a:r>
              <a:rPr sz="1600" dirty="0"/>
              <a:t>: 128×128</a:t>
            </a:r>
            <a:endParaRPr lang="en-US" sz="1600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700">
                <a:solidFill>
                  <a:srgbClr val="373F4D"/>
                </a:solidFill>
                <a:latin typeface="Malgun Gothic"/>
              </a:defRPr>
            </a:pPr>
            <a:endParaRPr sz="1600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700">
                <a:solidFill>
                  <a:srgbClr val="373F4D"/>
                </a:solidFill>
                <a:latin typeface="Malgun Gothic"/>
              </a:defRPr>
            </a:pPr>
            <a:r>
              <a:rPr sz="1600" dirty="0" err="1"/>
              <a:t>구현</a:t>
            </a:r>
            <a:r>
              <a:rPr sz="1600" dirty="0"/>
              <a:t> </a:t>
            </a:r>
            <a:r>
              <a:rPr sz="1600" dirty="0" err="1"/>
              <a:t>프레임워크</a:t>
            </a:r>
            <a:r>
              <a:rPr sz="1600" dirty="0"/>
              <a:t>: </a:t>
            </a:r>
            <a:r>
              <a:rPr sz="1600" dirty="0" err="1"/>
              <a:t>Keras</a:t>
            </a:r>
            <a:r>
              <a:rPr sz="1600" dirty="0"/>
              <a:t>(TensorFlow), </a:t>
            </a:r>
            <a:r>
              <a:rPr sz="1600" dirty="0" err="1"/>
              <a:t>PyTorch</a:t>
            </a:r>
            <a:endParaRPr lang="en-US" sz="1600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700">
                <a:solidFill>
                  <a:srgbClr val="373F4D"/>
                </a:solidFill>
                <a:latin typeface="Malgun Gothic"/>
              </a:defRPr>
            </a:pPr>
            <a:endParaRPr sz="1600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700">
                <a:solidFill>
                  <a:srgbClr val="373F4D"/>
                </a:solidFill>
                <a:latin typeface="Malgun Gothic"/>
              </a:defRPr>
            </a:pPr>
            <a:r>
              <a:rPr sz="1600" dirty="0" err="1"/>
              <a:t>비교</a:t>
            </a:r>
            <a:r>
              <a:rPr sz="1600" dirty="0"/>
              <a:t> </a:t>
            </a:r>
            <a:r>
              <a:rPr sz="1600" dirty="0" err="1"/>
              <a:t>대상</a:t>
            </a:r>
            <a:r>
              <a:rPr sz="1600" dirty="0"/>
              <a:t>: ANN / DNN / CNN</a:t>
            </a:r>
            <a:endParaRPr lang="en-US" sz="1600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700">
                <a:solidFill>
                  <a:srgbClr val="373F4D"/>
                </a:solidFill>
                <a:latin typeface="Malgun Gothic"/>
              </a:defRPr>
            </a:pPr>
            <a:endParaRPr sz="1600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700">
                <a:solidFill>
                  <a:srgbClr val="373F4D"/>
                </a:solidFill>
                <a:latin typeface="Malgun Gothic"/>
              </a:defRPr>
            </a:pPr>
            <a:r>
              <a:rPr sz="1600" dirty="0" err="1"/>
              <a:t>평가지표</a:t>
            </a:r>
            <a:r>
              <a:rPr sz="1600" dirty="0"/>
              <a:t>: Test Loss, Accuracy, Macro F1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508760"/>
            <a:ext cx="5074920" cy="416052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95162" y="1618856"/>
            <a:ext cx="128272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52644"/>
                </a:solidFill>
                <a:latin typeface="Malgun Gothic"/>
              </a:defRPr>
            </a:pPr>
            <a:r>
              <a:rPr sz="1600" dirty="0" err="1"/>
              <a:t>핵심</a:t>
            </a:r>
            <a:r>
              <a:rPr sz="1600" dirty="0"/>
              <a:t> </a:t>
            </a:r>
            <a:r>
              <a:rPr sz="1600" dirty="0" err="1"/>
              <a:t>메시지</a:t>
            </a:r>
            <a:endParaRPr sz="1600" dirty="0"/>
          </a:p>
        </p:txBody>
      </p:sp>
      <p:sp>
        <p:nvSpPr>
          <p:cNvPr id="12" name="TextBox 11"/>
          <p:cNvSpPr txBox="1"/>
          <p:nvPr/>
        </p:nvSpPr>
        <p:spPr>
          <a:xfrm>
            <a:off x="6583680" y="2243970"/>
            <a:ext cx="4663440" cy="2693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/>
              <a:t>두 </a:t>
            </a:r>
            <a:r>
              <a:rPr dirty="0" err="1"/>
              <a:t>프레임워크</a:t>
            </a:r>
            <a:r>
              <a:rPr dirty="0"/>
              <a:t> </a:t>
            </a:r>
            <a:r>
              <a:rPr dirty="0" err="1"/>
              <a:t>모두</a:t>
            </a:r>
            <a:r>
              <a:rPr dirty="0"/>
              <a:t> </a:t>
            </a:r>
            <a:r>
              <a:rPr dirty="0" err="1"/>
              <a:t>CNN이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우수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Keras가</a:t>
            </a:r>
            <a:r>
              <a:rPr dirty="0"/>
              <a:t> </a:t>
            </a:r>
            <a:r>
              <a:rPr dirty="0" err="1"/>
              <a:t>이번</a:t>
            </a:r>
            <a:r>
              <a:rPr dirty="0"/>
              <a:t> </a:t>
            </a:r>
            <a:r>
              <a:rPr dirty="0" err="1"/>
              <a:t>실험에서</a:t>
            </a:r>
            <a:r>
              <a:rPr dirty="0"/>
              <a:t> </a:t>
            </a:r>
            <a:r>
              <a:rPr dirty="0" err="1"/>
              <a:t>전반적으로</a:t>
            </a:r>
            <a:r>
              <a:rPr dirty="0"/>
              <a:t> 더 </a:t>
            </a:r>
            <a:r>
              <a:rPr dirty="0" err="1"/>
              <a:t>높은</a:t>
            </a:r>
            <a:r>
              <a:rPr dirty="0"/>
              <a:t> </a:t>
            </a:r>
            <a:r>
              <a:rPr dirty="0" err="1"/>
              <a:t>성능</a:t>
            </a:r>
            <a:r>
              <a:rPr dirty="0"/>
              <a:t> </a:t>
            </a:r>
            <a:r>
              <a:rPr dirty="0" err="1"/>
              <a:t>기록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DNN은</a:t>
            </a:r>
            <a:r>
              <a:rPr dirty="0"/>
              <a:t> </a:t>
            </a:r>
            <a:r>
              <a:rPr dirty="0" err="1"/>
              <a:t>LayerNorm</a:t>
            </a:r>
            <a:r>
              <a:rPr dirty="0"/>
              <a:t> </a:t>
            </a:r>
            <a:r>
              <a:rPr dirty="0" err="1"/>
              <a:t>적용이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안정적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CNN은</a:t>
            </a:r>
            <a:r>
              <a:rPr dirty="0"/>
              <a:t> RGB + Augmentation + Callback </a:t>
            </a:r>
            <a:r>
              <a:rPr dirty="0" err="1"/>
              <a:t>수정</a:t>
            </a:r>
            <a:r>
              <a:rPr dirty="0"/>
              <a:t> </a:t>
            </a:r>
            <a:r>
              <a:rPr dirty="0" err="1"/>
              <a:t>조합이</a:t>
            </a:r>
            <a:r>
              <a:rPr dirty="0"/>
              <a:t> </a:t>
            </a:r>
            <a:r>
              <a:rPr dirty="0" err="1"/>
              <a:t>최종</a:t>
            </a:r>
            <a:r>
              <a:rPr dirty="0"/>
              <a:t> </a:t>
            </a:r>
            <a:r>
              <a:rPr dirty="0" err="1"/>
              <a:t>후보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5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52644"/>
                </a:solidFill>
                <a:latin typeface="Malgun Gothic"/>
              </a:defRPr>
            </a:pPr>
            <a:r>
              <a:t>발표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87552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F6978"/>
                </a:solidFill>
                <a:latin typeface="Malgun Gothic"/>
              </a:defRPr>
            </a:pPr>
            <a:r>
              <a:t>약 10분 분량으로 실험 흐름과 핵심 결과를 요약합니다.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512064"/>
            <a:ext cx="1600200" cy="347472"/>
          </a:xfrm>
          <a:prstGeom prst="roundRect">
            <a:avLst/>
          </a:prstGeom>
          <a:solidFill>
            <a:srgbClr val="E6EEFA"/>
          </a:solidFill>
          <a:ln>
            <a:solidFill>
              <a:srgbClr val="26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265CAD"/>
                </a:solidFill>
                <a:latin typeface="Malgun Gothic"/>
              </a:defRPr>
            </a:pPr>
            <a: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46520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F6978"/>
                </a:solidFill>
                <a:latin typeface="Malgun Gothic"/>
              </a:defRPr>
            </a:pPr>
            <a:r>
              <a:t>Emotion Classification Experiment Summary  |  02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1417320"/>
            <a:ext cx="384048" cy="384048"/>
          </a:xfrm>
          <a:prstGeom prst="ellipse">
            <a:avLst/>
          </a:prstGeom>
          <a:solidFill>
            <a:srgbClr val="265C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17320" y="1325880"/>
            <a:ext cx="9738359" cy="68580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>
                <a:solidFill>
                  <a:srgbClr val="373F4D"/>
                </a:solidFill>
                <a:latin typeface="Malgun Gothic"/>
              </a:defRPr>
            </a:pPr>
            <a:r>
              <a:rPr sz="1400" dirty="0" err="1"/>
              <a:t>연구</a:t>
            </a:r>
            <a:r>
              <a:rPr sz="1400" dirty="0"/>
              <a:t> </a:t>
            </a:r>
            <a:r>
              <a:rPr sz="1400" dirty="0" err="1"/>
              <a:t>목적</a:t>
            </a:r>
            <a:r>
              <a:rPr sz="1400" dirty="0"/>
              <a:t> 및 </a:t>
            </a:r>
            <a:r>
              <a:rPr sz="1400" dirty="0" err="1"/>
              <a:t>실험</a:t>
            </a:r>
            <a:r>
              <a:rPr sz="1400" dirty="0"/>
              <a:t> </a:t>
            </a:r>
            <a:r>
              <a:rPr sz="1400" dirty="0" err="1"/>
              <a:t>설계</a:t>
            </a:r>
            <a:endParaRPr sz="1400" dirty="0"/>
          </a:p>
        </p:txBody>
      </p:sp>
      <p:sp>
        <p:nvSpPr>
          <p:cNvPr id="9" name="Oval 8"/>
          <p:cNvSpPr/>
          <p:nvPr/>
        </p:nvSpPr>
        <p:spPr>
          <a:xfrm>
            <a:off x="914400" y="2331720"/>
            <a:ext cx="384048" cy="384048"/>
          </a:xfrm>
          <a:prstGeom prst="ellipse">
            <a:avLst/>
          </a:prstGeom>
          <a:solidFill>
            <a:srgbClr val="265C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17320" y="2240280"/>
            <a:ext cx="9738359" cy="68580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>
                <a:solidFill>
                  <a:srgbClr val="373F4D"/>
                </a:solidFill>
                <a:latin typeface="Malgun Gothic"/>
              </a:defRPr>
            </a:pPr>
            <a:r>
              <a:rPr sz="1400" dirty="0" err="1"/>
              <a:t>Keras</a:t>
            </a:r>
            <a:r>
              <a:rPr sz="1400" dirty="0"/>
              <a:t> </a:t>
            </a:r>
            <a:r>
              <a:rPr sz="1400" dirty="0" err="1"/>
              <a:t>구조</a:t>
            </a:r>
            <a:r>
              <a:rPr sz="1400" dirty="0"/>
              <a:t> </a:t>
            </a:r>
            <a:r>
              <a:rPr sz="1400" dirty="0" err="1"/>
              <a:t>개선</a:t>
            </a:r>
            <a:r>
              <a:rPr sz="1400" dirty="0"/>
              <a:t> </a:t>
            </a:r>
            <a:r>
              <a:rPr sz="1400" dirty="0" err="1"/>
              <a:t>실험</a:t>
            </a:r>
            <a:endParaRPr sz="1400" dirty="0"/>
          </a:p>
        </p:txBody>
      </p:sp>
      <p:sp>
        <p:nvSpPr>
          <p:cNvPr id="11" name="Oval 10"/>
          <p:cNvSpPr/>
          <p:nvPr/>
        </p:nvSpPr>
        <p:spPr>
          <a:xfrm>
            <a:off x="914400" y="3246120"/>
            <a:ext cx="384048" cy="384048"/>
          </a:xfrm>
          <a:prstGeom prst="ellipse">
            <a:avLst/>
          </a:prstGeom>
          <a:solidFill>
            <a:srgbClr val="265C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17320" y="3154680"/>
            <a:ext cx="9738359" cy="68580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>
                <a:solidFill>
                  <a:srgbClr val="373F4D"/>
                </a:solidFill>
                <a:latin typeface="Malgun Gothic"/>
              </a:defRPr>
            </a:pPr>
            <a:r>
              <a:rPr sz="1400" dirty="0" err="1"/>
              <a:t>PyTorch</a:t>
            </a:r>
            <a:r>
              <a:rPr sz="1400" dirty="0"/>
              <a:t> </a:t>
            </a:r>
            <a:r>
              <a:rPr sz="1400" dirty="0" err="1"/>
              <a:t>재구현</a:t>
            </a:r>
            <a:r>
              <a:rPr sz="1400" dirty="0"/>
              <a:t> 및 </a:t>
            </a:r>
            <a:r>
              <a:rPr sz="1400" dirty="0" err="1"/>
              <a:t>결과</a:t>
            </a:r>
            <a:endParaRPr sz="1400" dirty="0"/>
          </a:p>
        </p:txBody>
      </p:sp>
      <p:sp>
        <p:nvSpPr>
          <p:cNvPr id="13" name="Oval 12"/>
          <p:cNvSpPr/>
          <p:nvPr/>
        </p:nvSpPr>
        <p:spPr>
          <a:xfrm>
            <a:off x="914400" y="4160520"/>
            <a:ext cx="384048" cy="384048"/>
          </a:xfrm>
          <a:prstGeom prst="ellipse">
            <a:avLst/>
          </a:prstGeom>
          <a:solidFill>
            <a:srgbClr val="265C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17320" y="4069080"/>
            <a:ext cx="9738359" cy="68580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>
                <a:solidFill>
                  <a:srgbClr val="373F4D"/>
                </a:solidFill>
                <a:latin typeface="Malgun Gothic"/>
              </a:defRPr>
            </a:pPr>
            <a:r>
              <a:rPr sz="1400" dirty="0" err="1"/>
              <a:t>Keras</a:t>
            </a:r>
            <a:r>
              <a:rPr sz="1400" dirty="0"/>
              <a:t> vs </a:t>
            </a:r>
            <a:r>
              <a:rPr sz="1400" dirty="0" err="1"/>
              <a:t>PyTorch</a:t>
            </a:r>
            <a:r>
              <a:rPr sz="1400" dirty="0"/>
              <a:t> </a:t>
            </a:r>
            <a:r>
              <a:rPr sz="1400" dirty="0" err="1"/>
              <a:t>비교</a:t>
            </a:r>
            <a:endParaRPr sz="1400" dirty="0"/>
          </a:p>
        </p:txBody>
      </p:sp>
      <p:sp>
        <p:nvSpPr>
          <p:cNvPr id="15" name="Oval 14"/>
          <p:cNvSpPr/>
          <p:nvPr/>
        </p:nvSpPr>
        <p:spPr>
          <a:xfrm>
            <a:off x="914400" y="5074920"/>
            <a:ext cx="384048" cy="384048"/>
          </a:xfrm>
          <a:prstGeom prst="ellipse">
            <a:avLst/>
          </a:prstGeom>
          <a:solidFill>
            <a:srgbClr val="265C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17320" y="4983480"/>
            <a:ext cx="9738359" cy="68580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>
                <a:solidFill>
                  <a:srgbClr val="373F4D"/>
                </a:solidFill>
                <a:latin typeface="Malgun Gothic"/>
              </a:defRPr>
            </a:pPr>
            <a:r>
              <a:rPr sz="1400" dirty="0" err="1"/>
              <a:t>결론</a:t>
            </a:r>
            <a:r>
              <a:rPr sz="1400" dirty="0"/>
              <a:t> 및 </a:t>
            </a:r>
            <a:r>
              <a:rPr sz="1400" dirty="0" err="1"/>
              <a:t>향후</a:t>
            </a:r>
            <a:r>
              <a:rPr sz="1400" dirty="0"/>
              <a:t> </a:t>
            </a:r>
            <a:r>
              <a:rPr sz="1400" dirty="0" err="1"/>
              <a:t>실험</a:t>
            </a:r>
            <a:r>
              <a:rPr sz="1400" dirty="0"/>
              <a:t> </a:t>
            </a:r>
            <a:r>
              <a:rPr sz="1400" dirty="0" err="1"/>
              <a:t>방향</a:t>
            </a:r>
            <a:endParaRPr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5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52644"/>
                </a:solidFill>
                <a:latin typeface="Malgun Gothic"/>
              </a:defRPr>
            </a:pPr>
            <a:r>
              <a:t>1. 실험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87552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F6978"/>
                </a:solidFill>
                <a:latin typeface="Malgun Gothic"/>
              </a:defRPr>
            </a:pPr>
            <a:r>
              <a:t>모델 구조에 따른 성능 차이와 프레임워크별 재현 결과를 비교하였습니다.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512064"/>
            <a:ext cx="1600200" cy="347472"/>
          </a:xfrm>
          <a:prstGeom prst="roundRect">
            <a:avLst/>
          </a:prstGeom>
          <a:solidFill>
            <a:srgbClr val="E6EEFA"/>
          </a:solidFill>
          <a:ln>
            <a:solidFill>
              <a:srgbClr val="26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265CAD"/>
                </a:solidFill>
                <a:latin typeface="Malgun Gothic"/>
              </a:defRPr>
            </a:pPr>
            <a:r>
              <a:t>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46520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F6978"/>
                </a:solidFill>
                <a:latin typeface="Malgun Gothic"/>
              </a:defRPr>
            </a:pPr>
            <a:r>
              <a:t>Emotion Classification Experiment Summary  | 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0210" y="1325880"/>
            <a:ext cx="5669280" cy="448056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840" y="1482156"/>
            <a:ext cx="107753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52644"/>
                </a:solidFill>
                <a:latin typeface="Malgun Gothic"/>
              </a:defRPr>
            </a:pPr>
            <a:r>
              <a:rPr sz="1600" dirty="0" err="1"/>
              <a:t>실험</a:t>
            </a:r>
            <a:r>
              <a:rPr sz="1600" dirty="0"/>
              <a:t> </a:t>
            </a:r>
            <a:r>
              <a:rPr sz="1600" dirty="0" err="1"/>
              <a:t>설정</a:t>
            </a:r>
            <a:endParaRPr sz="1600" dirty="0"/>
          </a:p>
        </p:txBody>
      </p:sp>
      <p:sp>
        <p:nvSpPr>
          <p:cNvPr id="9" name="TextBox 8"/>
          <p:cNvSpPr txBox="1"/>
          <p:nvPr/>
        </p:nvSpPr>
        <p:spPr>
          <a:xfrm>
            <a:off x="822960" y="1996447"/>
            <a:ext cx="5212080" cy="3688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데이터셋</a:t>
            </a:r>
            <a:r>
              <a:rPr dirty="0"/>
              <a:t>: </a:t>
            </a:r>
            <a:r>
              <a:rPr dirty="0" err="1"/>
              <a:t>어린이</a:t>
            </a:r>
            <a:r>
              <a:rPr dirty="0"/>
              <a:t> </a:t>
            </a:r>
            <a:r>
              <a:rPr dirty="0" err="1"/>
              <a:t>얼굴</a:t>
            </a:r>
            <a:r>
              <a:rPr dirty="0"/>
              <a:t> </a:t>
            </a:r>
            <a:r>
              <a:rPr dirty="0" err="1"/>
              <a:t>감정</a:t>
            </a:r>
            <a:r>
              <a:rPr dirty="0"/>
              <a:t> </a:t>
            </a:r>
            <a:r>
              <a:rPr dirty="0" err="1"/>
              <a:t>이미지</a:t>
            </a:r>
            <a:r>
              <a:rPr dirty="0"/>
              <a:t> 8개 </a:t>
            </a:r>
            <a:r>
              <a:rPr dirty="0" err="1"/>
              <a:t>클래스</a:t>
            </a: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입력</a:t>
            </a:r>
            <a:r>
              <a:rPr dirty="0"/>
              <a:t> </a:t>
            </a:r>
            <a:r>
              <a:rPr dirty="0" err="1"/>
              <a:t>크기</a:t>
            </a:r>
            <a:r>
              <a:rPr dirty="0"/>
              <a:t>: 128×128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/>
              <a:t>ANN / DNN: Grayscale(1채널)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/>
              <a:t>CNN: RGB(3채널)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/>
              <a:t>Optimizer: Adam, Learning Rate 0.001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평가</a:t>
            </a:r>
            <a:r>
              <a:rPr dirty="0"/>
              <a:t>: Accuracy, Macro F1, Test Loss, Train–Validation Gap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1325880"/>
            <a:ext cx="5120640" cy="448056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85000" y="1491392"/>
            <a:ext cx="156004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52644"/>
                </a:solidFill>
                <a:latin typeface="Malgun Gothic"/>
              </a:defRPr>
            </a:pPr>
            <a:r>
              <a:rPr sz="1600" dirty="0" err="1"/>
              <a:t>최종</a:t>
            </a:r>
            <a:r>
              <a:rPr sz="1600" dirty="0"/>
              <a:t> </a:t>
            </a:r>
            <a:r>
              <a:rPr sz="1600" dirty="0" err="1"/>
              <a:t>비교</a:t>
            </a:r>
            <a:r>
              <a:rPr sz="1600" dirty="0"/>
              <a:t> </a:t>
            </a:r>
            <a:r>
              <a:rPr sz="1600" dirty="0" err="1"/>
              <a:t>조건</a:t>
            </a:r>
            <a:endParaRPr sz="1600" dirty="0"/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860180"/>
              </p:ext>
            </p:extLst>
          </p:nvPr>
        </p:nvGraphicFramePr>
        <p:xfrm>
          <a:off x="6629400" y="2022762"/>
          <a:ext cx="470916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72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7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72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72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Framework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ANN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DNN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CNN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Keras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rPr dirty="0"/>
                        <a:t>Gray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Gray + LayerNorm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RGB + Aug + Callback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PyTorch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Gray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Gray + LayerNorm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rPr dirty="0"/>
                        <a:t>RGB + Aug + Callback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629400" y="3767972"/>
            <a:ext cx="4709160" cy="142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400">
                <a:solidFill>
                  <a:srgbClr val="373F4D"/>
                </a:solidFill>
                <a:latin typeface="Malgun Gothic"/>
              </a:defRPr>
            </a:pPr>
            <a:r>
              <a:rPr dirty="0"/>
              <a:t>CNN augmentation: Horizontal Flip + Rotation ±5°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4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400">
                <a:solidFill>
                  <a:srgbClr val="373F4D"/>
                </a:solidFill>
                <a:latin typeface="Malgun Gothic"/>
              </a:defRPr>
            </a:pPr>
            <a:r>
              <a:rPr dirty="0"/>
              <a:t>DNN </a:t>
            </a:r>
            <a:r>
              <a:rPr dirty="0" err="1"/>
              <a:t>구조</a:t>
            </a:r>
            <a:r>
              <a:rPr dirty="0"/>
              <a:t> </a:t>
            </a:r>
            <a:r>
              <a:rPr dirty="0" err="1"/>
              <a:t>개선은</a:t>
            </a:r>
            <a:r>
              <a:rPr dirty="0"/>
              <a:t> ablation </a:t>
            </a:r>
            <a:r>
              <a:rPr dirty="0" err="1"/>
              <a:t>실험으로</a:t>
            </a:r>
            <a:r>
              <a:rPr dirty="0"/>
              <a:t> </a:t>
            </a:r>
            <a:r>
              <a:rPr dirty="0" err="1"/>
              <a:t>선정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4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4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PyTorch는</a:t>
            </a:r>
            <a:r>
              <a:rPr dirty="0"/>
              <a:t> </a:t>
            </a:r>
            <a:r>
              <a:rPr dirty="0" err="1"/>
              <a:t>Keras</a:t>
            </a:r>
            <a:r>
              <a:rPr dirty="0"/>
              <a:t> </a:t>
            </a:r>
            <a:r>
              <a:rPr dirty="0" err="1"/>
              <a:t>최종</a:t>
            </a:r>
            <a:r>
              <a:rPr dirty="0"/>
              <a:t> </a:t>
            </a:r>
            <a:r>
              <a:rPr dirty="0" err="1"/>
              <a:t>구조를</a:t>
            </a:r>
            <a:r>
              <a:rPr dirty="0"/>
              <a:t> </a:t>
            </a:r>
            <a:r>
              <a:rPr dirty="0" err="1"/>
              <a:t>기준으로</a:t>
            </a:r>
            <a:r>
              <a:rPr dirty="0"/>
              <a:t> </a:t>
            </a:r>
            <a:r>
              <a:rPr dirty="0" err="1"/>
              <a:t>재구현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5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52644"/>
                </a:solidFill>
                <a:latin typeface="Malgun Gothic"/>
              </a:defRPr>
            </a:pPr>
            <a:r>
              <a:t>2. Keras 구조 개선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87552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F6978"/>
                </a:solidFill>
                <a:latin typeface="Malgun Gothic"/>
              </a:defRPr>
            </a:pPr>
            <a:r>
              <a:t>초기 validation accuracy 고정 문제를 중심으로 DNN ablation을 수행했습니다.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512064"/>
            <a:ext cx="1600200" cy="347472"/>
          </a:xfrm>
          <a:prstGeom prst="roundRect">
            <a:avLst/>
          </a:prstGeom>
          <a:solidFill>
            <a:srgbClr val="E6EEFA"/>
          </a:solidFill>
          <a:ln>
            <a:solidFill>
              <a:srgbClr val="26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265CAD"/>
                </a:solidFill>
                <a:latin typeface="Malgun Gothic"/>
              </a:defRPr>
            </a:pPr>
            <a:r>
              <a:t>Keras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46520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F6978"/>
                </a:solidFill>
                <a:latin typeface="Malgun Gothic"/>
              </a:defRPr>
            </a:pPr>
            <a:r>
              <a:t>Emotion Classification Experiment Summary  |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457200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3604" y="1537578"/>
            <a:ext cx="252825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52644"/>
                </a:solidFill>
                <a:latin typeface="Malgun Gothic"/>
              </a:defRPr>
            </a:pPr>
            <a:r>
              <a:rPr sz="1600" dirty="0"/>
              <a:t>DNN Ablation </a:t>
            </a:r>
            <a:r>
              <a:rPr sz="1600" dirty="0" err="1"/>
              <a:t>결과</a:t>
            </a:r>
            <a:r>
              <a:rPr sz="1600" dirty="0"/>
              <a:t> </a:t>
            </a:r>
            <a:r>
              <a:rPr sz="1600" dirty="0" err="1"/>
              <a:t>해석</a:t>
            </a:r>
            <a:endParaRPr sz="1600" dirty="0"/>
          </a:p>
        </p:txBody>
      </p:sp>
      <p:sp>
        <p:nvSpPr>
          <p:cNvPr id="9" name="TextBox 8"/>
          <p:cNvSpPr txBox="1"/>
          <p:nvPr/>
        </p:nvSpPr>
        <p:spPr>
          <a:xfrm>
            <a:off x="822960" y="2254135"/>
            <a:ext cx="4937760" cy="28212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/>
              <a:t>Baseline DNN: Test Accuracy 36.09%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/>
              <a:t>Dropout only: 27.83% → Underfitting </a:t>
            </a:r>
            <a:r>
              <a:rPr dirty="0" err="1"/>
              <a:t>경향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/>
              <a:t>Augmentation only: 33.00% → </a:t>
            </a:r>
            <a:r>
              <a:rPr dirty="0" err="1"/>
              <a:t>개선</a:t>
            </a:r>
            <a:r>
              <a:rPr dirty="0"/>
              <a:t> </a:t>
            </a:r>
            <a:r>
              <a:rPr dirty="0" err="1"/>
              <a:t>효과</a:t>
            </a:r>
            <a:r>
              <a:rPr dirty="0"/>
              <a:t> </a:t>
            </a:r>
            <a:r>
              <a:rPr dirty="0" err="1"/>
              <a:t>제한적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LayerNorm</a:t>
            </a:r>
            <a:r>
              <a:rPr dirty="0"/>
              <a:t> only: 39.81% →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안정적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최종</a:t>
            </a:r>
            <a:r>
              <a:rPr dirty="0"/>
              <a:t> </a:t>
            </a:r>
            <a:r>
              <a:rPr dirty="0" err="1"/>
              <a:t>결론</a:t>
            </a:r>
            <a:r>
              <a:rPr dirty="0"/>
              <a:t>: Dropout </a:t>
            </a:r>
            <a:r>
              <a:rPr dirty="0" err="1"/>
              <a:t>제거</a:t>
            </a:r>
            <a:r>
              <a:rPr dirty="0"/>
              <a:t>, </a:t>
            </a:r>
            <a:r>
              <a:rPr dirty="0" err="1"/>
              <a:t>LayerNorm만</a:t>
            </a:r>
            <a:r>
              <a:rPr dirty="0"/>
              <a:t> </a:t>
            </a:r>
            <a:r>
              <a:rPr dirty="0" err="1"/>
              <a:t>유지</a:t>
            </a:r>
            <a:endParaRPr dirty="0"/>
          </a:p>
        </p:txBody>
      </p:sp>
      <p:pic>
        <p:nvPicPr>
          <p:cNvPr id="10" name="Picture 9" descr="keras_dnn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508760"/>
            <a:ext cx="4846320" cy="269694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37960" y="516636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F6978"/>
                </a:solidFill>
                <a:latin typeface="Malgun Gothic"/>
              </a:defRPr>
            </a:pPr>
            <a:r>
              <a:t>그림. Keras DNN ablation의 Test Accuracy 비교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5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52644"/>
                </a:solidFill>
                <a:latin typeface="Malgun Gothic"/>
              </a:defRPr>
            </a:pPr>
            <a:r>
              <a:t>2. Keras CNN 개선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87552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F6978"/>
                </a:solidFill>
                <a:latin typeface="Malgun Gothic"/>
              </a:defRPr>
            </a:pPr>
            <a:r>
              <a:t>과적합 완화와 성능 유지/향상을 동시에 목표로 CNN 구조를 조정했습니다.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512064"/>
            <a:ext cx="1600200" cy="347472"/>
          </a:xfrm>
          <a:prstGeom prst="roundRect">
            <a:avLst/>
          </a:prstGeom>
          <a:solidFill>
            <a:srgbClr val="E6EEFA"/>
          </a:solidFill>
          <a:ln>
            <a:solidFill>
              <a:srgbClr val="26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265CAD"/>
                </a:solidFill>
                <a:latin typeface="Malgun Gothic"/>
              </a:defRPr>
            </a:pPr>
            <a:r>
              <a:t>Keras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46520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F6978"/>
                </a:solidFill>
                <a:latin typeface="Malgun Gothic"/>
              </a:defRPr>
            </a:pPr>
            <a:r>
              <a:t>Emotion Classification Experiment Summary  |  05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1508760"/>
            <a:ext cx="384048" cy="384048"/>
          </a:xfrm>
          <a:prstGeom prst="ellipse">
            <a:avLst/>
          </a:prstGeom>
          <a:solidFill>
            <a:srgbClr val="265C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34440" y="1417320"/>
            <a:ext cx="2423160" cy="160020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>
                <a:solidFill>
                  <a:srgbClr val="373F4D"/>
                </a:solidFill>
                <a:latin typeface="Malgun Gothic"/>
              </a:defRPr>
            </a:pPr>
            <a:r>
              <a:t>Baseline CNN (Gray / Aug X / Dropout X)</a:t>
            </a:r>
            <a:br/>
            <a:r>
              <a:t>→ Train-Val gap 약 20%p로 과적합 발견</a:t>
            </a:r>
          </a:p>
        </p:txBody>
      </p:sp>
      <p:sp>
        <p:nvSpPr>
          <p:cNvPr id="9" name="Oval 8"/>
          <p:cNvSpPr/>
          <p:nvPr/>
        </p:nvSpPr>
        <p:spPr>
          <a:xfrm>
            <a:off x="4069080" y="1508760"/>
            <a:ext cx="384048" cy="384048"/>
          </a:xfrm>
          <a:prstGeom prst="ellipse">
            <a:avLst/>
          </a:prstGeom>
          <a:solidFill>
            <a:srgbClr val="265C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417320"/>
            <a:ext cx="2423160" cy="160020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>
                <a:solidFill>
                  <a:srgbClr val="373F4D"/>
                </a:solidFill>
                <a:latin typeface="Malgun Gothic"/>
              </a:defRPr>
            </a:pPr>
            <a:r>
              <a:t>Augmentation 적용</a:t>
            </a:r>
            <a:br/>
            <a:r>
              <a:t>→ 과적합은 감소했지만 Test 성능 감소</a:t>
            </a:r>
          </a:p>
        </p:txBody>
      </p:sp>
      <p:sp>
        <p:nvSpPr>
          <p:cNvPr id="11" name="Oval 10"/>
          <p:cNvSpPr/>
          <p:nvPr/>
        </p:nvSpPr>
        <p:spPr>
          <a:xfrm>
            <a:off x="7406640" y="1508760"/>
            <a:ext cx="384048" cy="384048"/>
          </a:xfrm>
          <a:prstGeom prst="ellipse">
            <a:avLst/>
          </a:prstGeom>
          <a:solidFill>
            <a:srgbClr val="265C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9560" y="1417320"/>
            <a:ext cx="2423160" cy="160020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>
                <a:solidFill>
                  <a:srgbClr val="373F4D"/>
                </a:solidFill>
                <a:latin typeface="Malgun Gothic"/>
              </a:defRPr>
            </a:pPr>
            <a:r>
              <a:t>Callback 수정</a:t>
            </a:r>
            <a:br/>
            <a:r>
              <a:t>(LR patience 2→4, EarlyStopping 5→7)</a:t>
            </a:r>
            <a:br/>
            <a:r>
              <a:t>→ Test 성능 회복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3749039"/>
            <a:ext cx="384048" cy="384048"/>
          </a:xfrm>
          <a:prstGeom prst="ellipse">
            <a:avLst/>
          </a:prstGeom>
          <a:solidFill>
            <a:srgbClr val="265C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34440" y="3657600"/>
            <a:ext cx="2423160" cy="160020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>
                <a:solidFill>
                  <a:srgbClr val="373F4D"/>
                </a:solidFill>
                <a:latin typeface="Malgun Gothic"/>
              </a:defRPr>
            </a:pPr>
            <a:r>
              <a:t>Dropout 0.2 실험</a:t>
            </a:r>
            <a:br/>
            <a:r>
              <a:t>→ Test Accuracy 44.85%, Underfitting 확인</a:t>
            </a:r>
          </a:p>
        </p:txBody>
      </p:sp>
      <p:sp>
        <p:nvSpPr>
          <p:cNvPr id="15" name="Oval 14"/>
          <p:cNvSpPr/>
          <p:nvPr/>
        </p:nvSpPr>
        <p:spPr>
          <a:xfrm>
            <a:off x="4069080" y="3749039"/>
            <a:ext cx="384048" cy="384048"/>
          </a:xfrm>
          <a:prstGeom prst="ellipse">
            <a:avLst/>
          </a:prstGeom>
          <a:solidFill>
            <a:srgbClr val="265C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3657600"/>
            <a:ext cx="2423160" cy="160020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>
                <a:solidFill>
                  <a:srgbClr val="373F4D"/>
                </a:solidFill>
                <a:latin typeface="Malgun Gothic"/>
              </a:defRPr>
            </a:pPr>
            <a:r>
              <a:t>Dropout 제거</a:t>
            </a:r>
          </a:p>
        </p:txBody>
      </p:sp>
      <p:sp>
        <p:nvSpPr>
          <p:cNvPr id="17" name="Oval 16"/>
          <p:cNvSpPr/>
          <p:nvPr/>
        </p:nvSpPr>
        <p:spPr>
          <a:xfrm>
            <a:off x="7406640" y="3749039"/>
            <a:ext cx="384048" cy="384048"/>
          </a:xfrm>
          <a:prstGeom prst="ellipse">
            <a:avLst/>
          </a:prstGeom>
          <a:solidFill>
            <a:srgbClr val="265C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3657600"/>
            <a:ext cx="2423160" cy="160020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>
                <a:solidFill>
                  <a:srgbClr val="373F4D"/>
                </a:solidFill>
                <a:latin typeface="Malgun Gothic"/>
              </a:defRPr>
            </a:pPr>
            <a:r>
              <a:t>RGB 실험</a:t>
            </a:r>
            <a:br/>
            <a:r>
              <a:t>→ Gray+Aug 52.02%, RGB+Aug 52.47%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5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52644"/>
                </a:solidFill>
                <a:latin typeface="Malgun Gothic"/>
              </a:defRPr>
            </a:pPr>
            <a:r>
              <a:t>2. Keras 최종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87552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F6978"/>
                </a:solidFill>
                <a:latin typeface="Malgun Gothic"/>
              </a:defRPr>
            </a:pPr>
            <a:r>
              <a:t>최종적으로 CNN이 가장 우수한 성능을 보였습니다.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512064"/>
            <a:ext cx="1600200" cy="347472"/>
          </a:xfrm>
          <a:prstGeom prst="roundRect">
            <a:avLst/>
          </a:prstGeom>
          <a:solidFill>
            <a:srgbClr val="E6EEFA"/>
          </a:solidFill>
          <a:ln>
            <a:solidFill>
              <a:srgbClr val="26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265CAD"/>
                </a:solidFill>
                <a:latin typeface="Malgun Gothic"/>
              </a:defRPr>
            </a:pPr>
            <a:r>
              <a:t>Keras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46520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F6978"/>
                </a:solidFill>
                <a:latin typeface="Malgun Gothic"/>
              </a:defRPr>
            </a:pPr>
            <a:r>
              <a:t>Emotion Classification Experiment Summary  |  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2057400" cy="1188720"/>
          </a:xfrm>
          <a:prstGeom prst="roundRect">
            <a:avLst/>
          </a:prstGeom>
          <a:solidFill>
            <a:srgbClr val="F1F5FB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265CAD"/>
                </a:solidFill>
                <a:latin typeface="Malgun Gothic"/>
              </a:defRPr>
            </a:pPr>
            <a:r>
              <a:t>Best Accuracy</a:t>
            </a:r>
          </a:p>
          <a:p>
            <a:pPr>
              <a:defRPr sz="2000" b="1">
                <a:solidFill>
                  <a:srgbClr val="152644"/>
                </a:solidFill>
                <a:latin typeface="Malgun Gothic"/>
              </a:defRPr>
            </a:pPr>
            <a:r>
              <a:t>52.47%</a:t>
            </a:r>
          </a:p>
          <a:p>
            <a:pPr>
              <a:defRPr sz="950">
                <a:solidFill>
                  <a:srgbClr val="5F6978"/>
                </a:solidFill>
                <a:latin typeface="Malgun Gothic"/>
              </a:defRPr>
            </a:pPr>
            <a:r>
              <a:t>Keras CNN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1417320"/>
            <a:ext cx="2057400" cy="1188720"/>
          </a:xfrm>
          <a:prstGeom prst="roundRect">
            <a:avLst/>
          </a:prstGeom>
          <a:solidFill>
            <a:srgbClr val="F1F5FB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265CAD"/>
                </a:solidFill>
                <a:latin typeface="Malgun Gothic"/>
              </a:defRPr>
            </a:pPr>
            <a:r>
              <a:t>Best Macro F1</a:t>
            </a:r>
          </a:p>
          <a:p>
            <a:pPr>
              <a:defRPr sz="2000" b="1">
                <a:solidFill>
                  <a:srgbClr val="152644"/>
                </a:solidFill>
                <a:latin typeface="Malgun Gothic"/>
              </a:defRPr>
            </a:pPr>
            <a:r>
              <a:t>52.00%</a:t>
            </a:r>
          </a:p>
          <a:p>
            <a:pPr>
              <a:defRPr sz="950">
                <a:solidFill>
                  <a:srgbClr val="5F6978"/>
                </a:solidFill>
                <a:latin typeface="Malgun Gothic"/>
              </a:defRPr>
            </a:pPr>
            <a:r>
              <a:t>Keras CNN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1417320"/>
            <a:ext cx="2057400" cy="1188720"/>
          </a:xfrm>
          <a:prstGeom prst="roundRect">
            <a:avLst/>
          </a:prstGeom>
          <a:solidFill>
            <a:srgbClr val="F1F5FB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265CAD"/>
                </a:solidFill>
                <a:latin typeface="Malgun Gothic"/>
              </a:defRPr>
            </a:pPr>
            <a:r>
              <a:t>Best Test Loss</a:t>
            </a:r>
          </a:p>
          <a:p>
            <a:pPr>
              <a:defRPr sz="2000" b="1">
                <a:solidFill>
                  <a:srgbClr val="152644"/>
                </a:solidFill>
                <a:latin typeface="Malgun Gothic"/>
              </a:defRPr>
            </a:pPr>
            <a:r>
              <a:t>1.2620</a:t>
            </a:r>
          </a:p>
          <a:p>
            <a:pPr>
              <a:defRPr sz="950">
                <a:solidFill>
                  <a:srgbClr val="5F6978"/>
                </a:solidFill>
                <a:latin typeface="Malgun Gothic"/>
              </a:defRPr>
            </a:pPr>
            <a:r>
              <a:t>Keras CNN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69480" y="1417320"/>
            <a:ext cx="2560320" cy="1188720"/>
          </a:xfrm>
          <a:prstGeom prst="roundRect">
            <a:avLst/>
          </a:prstGeom>
          <a:solidFill>
            <a:srgbClr val="F1F5FB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265CAD"/>
                </a:solidFill>
                <a:latin typeface="Malgun Gothic"/>
              </a:defRPr>
            </a:pPr>
            <a:r>
              <a:t>Key Finding</a:t>
            </a:r>
          </a:p>
          <a:p>
            <a:pPr>
              <a:defRPr sz="2000" b="1">
                <a:solidFill>
                  <a:srgbClr val="152644"/>
                </a:solidFill>
                <a:latin typeface="Malgun Gothic"/>
              </a:defRPr>
            </a:pPr>
            <a:r>
              <a:t>CNN &gt; ANN ≈ DNN</a:t>
            </a:r>
          </a:p>
          <a:p>
            <a:pPr>
              <a:defRPr sz="950">
                <a:solidFill>
                  <a:srgbClr val="5F6978"/>
                </a:solidFill>
                <a:latin typeface="Malgun Gothic"/>
              </a:defRPr>
            </a:pPr>
            <a:r>
              <a:t>공간 정보 보존의 중요성 확인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9791305"/>
              </p:ext>
            </p:extLst>
          </p:nvPr>
        </p:nvGraphicFramePr>
        <p:xfrm>
          <a:off x="731520" y="3120500"/>
          <a:ext cx="5486400" cy="17259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0050"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Input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Test Loss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Macro F1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Params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ANN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128×128×1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rPr dirty="0"/>
                        <a:t>1.4264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44.89%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43.83%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2,098,312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DNN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128×128×1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1.4370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44.03%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43.46%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8,555,912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CNN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128×128×3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1.2620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52.47%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52.00%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rPr dirty="0"/>
                        <a:t>423,208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446520" y="2880360"/>
            <a:ext cx="5074920" cy="224028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29584" y="2990456"/>
            <a:ext cx="107753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52644"/>
                </a:solidFill>
                <a:latin typeface="Malgun Gothic"/>
              </a:defRPr>
            </a:pPr>
            <a:r>
              <a:rPr sz="1600" dirty="0" err="1"/>
              <a:t>요약</a:t>
            </a:r>
            <a:r>
              <a:rPr sz="1600" dirty="0"/>
              <a:t> </a:t>
            </a:r>
            <a:r>
              <a:rPr sz="1600" dirty="0" err="1"/>
              <a:t>해석</a:t>
            </a:r>
            <a:endParaRPr sz="1600" dirty="0"/>
          </a:p>
        </p:txBody>
      </p:sp>
      <p:sp>
        <p:nvSpPr>
          <p:cNvPr id="14" name="TextBox 13"/>
          <p:cNvSpPr txBox="1"/>
          <p:nvPr/>
        </p:nvSpPr>
        <p:spPr>
          <a:xfrm>
            <a:off x="6675120" y="3458553"/>
            <a:ext cx="4617720" cy="1374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CNN은</a:t>
            </a:r>
            <a:r>
              <a:rPr dirty="0"/>
              <a:t> </a:t>
            </a:r>
            <a:r>
              <a:rPr dirty="0" err="1"/>
              <a:t>Accuracy와</a:t>
            </a:r>
            <a:r>
              <a:rPr dirty="0"/>
              <a:t> Macro F1 </a:t>
            </a:r>
            <a:r>
              <a:rPr dirty="0" err="1"/>
              <a:t>모두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높음</a:t>
            </a: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r>
              <a:rPr dirty="0"/>
              <a:t>ANN/</a:t>
            </a:r>
            <a:r>
              <a:rPr dirty="0" err="1"/>
              <a:t>DNN은</a:t>
            </a:r>
            <a:r>
              <a:rPr dirty="0"/>
              <a:t> Flatten </a:t>
            </a:r>
            <a:r>
              <a:rPr dirty="0" err="1"/>
              <a:t>기반이라</a:t>
            </a:r>
            <a:r>
              <a:rPr dirty="0"/>
              <a:t> </a:t>
            </a:r>
            <a:r>
              <a:rPr dirty="0" err="1"/>
              <a:t>공간</a:t>
            </a:r>
            <a:r>
              <a:rPr dirty="0"/>
              <a:t> </a:t>
            </a:r>
            <a:r>
              <a:rPr dirty="0" err="1"/>
              <a:t>구조</a:t>
            </a:r>
            <a:r>
              <a:rPr dirty="0"/>
              <a:t> </a:t>
            </a:r>
            <a:r>
              <a:rPr dirty="0" err="1"/>
              <a:t>활용이</a:t>
            </a:r>
            <a:r>
              <a:rPr dirty="0"/>
              <a:t> </a:t>
            </a:r>
            <a:r>
              <a:rPr dirty="0" err="1"/>
              <a:t>제한됨</a:t>
            </a: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r>
              <a:rPr dirty="0"/>
              <a:t>RGB </a:t>
            </a:r>
            <a:r>
              <a:rPr dirty="0" err="1"/>
              <a:t>입력과</a:t>
            </a:r>
            <a:r>
              <a:rPr dirty="0"/>
              <a:t> </a:t>
            </a:r>
            <a:r>
              <a:rPr dirty="0" err="1"/>
              <a:t>augmentation이</a:t>
            </a:r>
            <a:r>
              <a:rPr dirty="0"/>
              <a:t> </a:t>
            </a:r>
            <a:r>
              <a:rPr dirty="0" err="1"/>
              <a:t>최종</a:t>
            </a:r>
            <a:r>
              <a:rPr dirty="0"/>
              <a:t> CNN </a:t>
            </a:r>
            <a:r>
              <a:rPr dirty="0" err="1"/>
              <a:t>성능</a:t>
            </a:r>
            <a:r>
              <a:rPr dirty="0"/>
              <a:t> </a:t>
            </a:r>
            <a:r>
              <a:rPr dirty="0" err="1"/>
              <a:t>향상에</a:t>
            </a:r>
            <a:r>
              <a:rPr dirty="0"/>
              <a:t> </a:t>
            </a:r>
            <a:r>
              <a:rPr dirty="0" err="1"/>
              <a:t>기여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5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52644"/>
                </a:solidFill>
                <a:latin typeface="Malgun Gothic"/>
              </a:defRPr>
            </a:pPr>
            <a:r>
              <a:t>3. PyTorch 재구현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87552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F6978"/>
                </a:solidFill>
                <a:latin typeface="Malgun Gothic"/>
              </a:defRPr>
            </a:pPr>
            <a:r>
              <a:t>Keras에서 도출한 최종 구조를 기준으로 PyTorch에서도 동일 과제를 재현했습니다.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512064"/>
            <a:ext cx="1600200" cy="347472"/>
          </a:xfrm>
          <a:prstGeom prst="roundRect">
            <a:avLst/>
          </a:prstGeom>
          <a:solidFill>
            <a:srgbClr val="E6EEFA"/>
          </a:solidFill>
          <a:ln>
            <a:solidFill>
              <a:srgbClr val="26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265CAD"/>
                </a:solidFill>
                <a:latin typeface="Malgun Gothic"/>
              </a:defRPr>
            </a:pPr>
            <a:r>
              <a:t>PyTorch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46520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F6978"/>
                </a:solidFill>
                <a:latin typeface="Malgun Gothic"/>
              </a:defRPr>
            </a:pPr>
            <a:r>
              <a:t>Emotion Classification Experiment Summary  | 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2057400" cy="1188720"/>
          </a:xfrm>
          <a:prstGeom prst="roundRect">
            <a:avLst/>
          </a:prstGeom>
          <a:solidFill>
            <a:srgbClr val="F1F5FB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265CAD"/>
                </a:solidFill>
                <a:latin typeface="Malgun Gothic"/>
              </a:defRPr>
            </a:pPr>
            <a:r>
              <a:t>Best Accuracy</a:t>
            </a:r>
          </a:p>
          <a:p>
            <a:pPr>
              <a:defRPr sz="2000" b="1">
                <a:solidFill>
                  <a:srgbClr val="152644"/>
                </a:solidFill>
                <a:latin typeface="Malgun Gothic"/>
              </a:defRPr>
            </a:pPr>
            <a:r>
              <a:t>50.70%</a:t>
            </a:r>
          </a:p>
          <a:p>
            <a:pPr>
              <a:defRPr sz="950">
                <a:solidFill>
                  <a:srgbClr val="5F6978"/>
                </a:solidFill>
                <a:latin typeface="Malgun Gothic"/>
              </a:defRPr>
            </a:pPr>
            <a:r>
              <a:t>PyTorch CNN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1417320"/>
            <a:ext cx="2057400" cy="1188720"/>
          </a:xfrm>
          <a:prstGeom prst="roundRect">
            <a:avLst/>
          </a:prstGeom>
          <a:solidFill>
            <a:srgbClr val="F1F5FB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265CAD"/>
                </a:solidFill>
                <a:latin typeface="Malgun Gothic"/>
              </a:defRPr>
            </a:pPr>
            <a:r>
              <a:t>Best Macro F1</a:t>
            </a:r>
          </a:p>
          <a:p>
            <a:pPr>
              <a:defRPr sz="2000" b="1">
                <a:solidFill>
                  <a:srgbClr val="152644"/>
                </a:solidFill>
                <a:latin typeface="Malgun Gothic"/>
              </a:defRPr>
            </a:pPr>
            <a:r>
              <a:t>49.46%</a:t>
            </a:r>
          </a:p>
          <a:p>
            <a:pPr>
              <a:defRPr sz="950">
                <a:solidFill>
                  <a:srgbClr val="5F6978"/>
                </a:solidFill>
                <a:latin typeface="Malgun Gothic"/>
              </a:defRPr>
            </a:pPr>
            <a:r>
              <a:t>PyTorch CNN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1417320"/>
            <a:ext cx="2057400" cy="1188720"/>
          </a:xfrm>
          <a:prstGeom prst="roundRect">
            <a:avLst/>
          </a:prstGeom>
          <a:solidFill>
            <a:srgbClr val="F1F5FB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265CAD"/>
                </a:solidFill>
                <a:latin typeface="Malgun Gothic"/>
              </a:defRPr>
            </a:pPr>
            <a:r>
              <a:t>Best Test Loss</a:t>
            </a:r>
          </a:p>
          <a:p>
            <a:pPr>
              <a:defRPr sz="2000" b="1">
                <a:solidFill>
                  <a:srgbClr val="152644"/>
                </a:solidFill>
                <a:latin typeface="Malgun Gothic"/>
              </a:defRPr>
            </a:pPr>
            <a:r>
              <a:t>1.2832</a:t>
            </a:r>
          </a:p>
          <a:p>
            <a:pPr>
              <a:defRPr sz="950">
                <a:solidFill>
                  <a:srgbClr val="5F6978"/>
                </a:solidFill>
                <a:latin typeface="Malgun Gothic"/>
              </a:defRPr>
            </a:pPr>
            <a:r>
              <a:t>PyTorch CNN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69480" y="1417320"/>
            <a:ext cx="2560320" cy="1188720"/>
          </a:xfrm>
          <a:prstGeom prst="roundRect">
            <a:avLst/>
          </a:prstGeom>
          <a:solidFill>
            <a:srgbClr val="F1F5FB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265CAD"/>
                </a:solidFill>
                <a:latin typeface="Malgun Gothic"/>
              </a:defRPr>
            </a:pPr>
            <a:r>
              <a:t>Key Finding</a:t>
            </a:r>
          </a:p>
          <a:p>
            <a:pPr>
              <a:defRPr sz="2000" b="1">
                <a:solidFill>
                  <a:srgbClr val="152644"/>
                </a:solidFill>
                <a:latin typeface="Malgun Gothic"/>
              </a:defRPr>
            </a:pPr>
            <a:r>
              <a:t>CNN &gt; DNN &gt; ANN</a:t>
            </a:r>
          </a:p>
          <a:p>
            <a:pPr>
              <a:defRPr sz="950">
                <a:solidFill>
                  <a:srgbClr val="5F6978"/>
                </a:solidFill>
                <a:latin typeface="Malgun Gothic"/>
              </a:defRPr>
            </a:pPr>
            <a:r>
              <a:t>Keras와 동일한 구조적 경향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2055486"/>
              </p:ext>
            </p:extLst>
          </p:nvPr>
        </p:nvGraphicFramePr>
        <p:xfrm>
          <a:off x="731520" y="3203637"/>
          <a:ext cx="5760720" cy="16268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005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Input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Test Loss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Macro F1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Train-Val Gap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ANN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128×128×1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1.4570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41.04%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rPr dirty="0"/>
                        <a:t>39.36%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2.69%p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DNN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128×128×1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1.4545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42.71%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42.06%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5.74%p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CNN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128×128×3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1.2832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50.70%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49.46%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rPr dirty="0"/>
                        <a:t>7.28%p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720840" y="2880360"/>
            <a:ext cx="4800600" cy="224028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03903" y="2981220"/>
            <a:ext cx="107753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52644"/>
                </a:solidFill>
                <a:latin typeface="Malgun Gothic"/>
              </a:defRPr>
            </a:pPr>
            <a:r>
              <a:rPr sz="1600" dirty="0" err="1"/>
              <a:t>요약</a:t>
            </a:r>
            <a:r>
              <a:rPr sz="1600" dirty="0"/>
              <a:t> </a:t>
            </a:r>
            <a:r>
              <a:rPr sz="1600" dirty="0" err="1"/>
              <a:t>해석</a:t>
            </a:r>
            <a:endParaRPr sz="1600" dirty="0"/>
          </a:p>
        </p:txBody>
      </p:sp>
      <p:sp>
        <p:nvSpPr>
          <p:cNvPr id="14" name="TextBox 13"/>
          <p:cNvSpPr txBox="1"/>
          <p:nvPr/>
        </p:nvSpPr>
        <p:spPr>
          <a:xfrm>
            <a:off x="6931152" y="3504733"/>
            <a:ext cx="4389120" cy="1113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45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ANN은</a:t>
            </a:r>
            <a:r>
              <a:rPr dirty="0"/>
              <a:t> </a:t>
            </a:r>
            <a:r>
              <a:rPr dirty="0" err="1"/>
              <a:t>과적합보다</a:t>
            </a:r>
            <a:r>
              <a:rPr dirty="0"/>
              <a:t> </a:t>
            </a:r>
            <a:r>
              <a:rPr dirty="0" err="1"/>
              <a:t>표현력</a:t>
            </a:r>
            <a:r>
              <a:rPr dirty="0"/>
              <a:t> </a:t>
            </a:r>
            <a:r>
              <a:rPr dirty="0" err="1"/>
              <a:t>부족에</a:t>
            </a:r>
            <a:r>
              <a:rPr dirty="0"/>
              <a:t> </a:t>
            </a:r>
            <a:r>
              <a:rPr dirty="0" err="1"/>
              <a:t>가까운</a:t>
            </a:r>
            <a:r>
              <a:rPr dirty="0"/>
              <a:t> </a:t>
            </a:r>
            <a:r>
              <a:rPr dirty="0" err="1"/>
              <a:t>양상</a:t>
            </a: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45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DNN은</a:t>
            </a:r>
            <a:r>
              <a:rPr dirty="0"/>
              <a:t> </a:t>
            </a:r>
            <a:r>
              <a:rPr dirty="0" err="1"/>
              <a:t>LayerNorm</a:t>
            </a:r>
            <a:r>
              <a:rPr dirty="0"/>
              <a:t> </a:t>
            </a:r>
            <a:r>
              <a:rPr dirty="0" err="1"/>
              <a:t>효과로</a:t>
            </a:r>
            <a:r>
              <a:rPr dirty="0"/>
              <a:t> </a:t>
            </a:r>
            <a:r>
              <a:rPr dirty="0" err="1"/>
              <a:t>일부</a:t>
            </a:r>
            <a:r>
              <a:rPr dirty="0"/>
              <a:t> </a:t>
            </a:r>
            <a:r>
              <a:rPr dirty="0" err="1"/>
              <a:t>성능</a:t>
            </a:r>
            <a:r>
              <a:rPr dirty="0"/>
              <a:t> </a:t>
            </a:r>
            <a:r>
              <a:rPr dirty="0" err="1"/>
              <a:t>개선</a:t>
            </a: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45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CNN은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높은</a:t>
            </a:r>
            <a:r>
              <a:rPr dirty="0"/>
              <a:t> </a:t>
            </a:r>
            <a:r>
              <a:rPr dirty="0" err="1"/>
              <a:t>성능을</a:t>
            </a:r>
            <a:r>
              <a:rPr dirty="0"/>
              <a:t> </a:t>
            </a:r>
            <a:r>
              <a:rPr dirty="0" err="1"/>
              <a:t>보였지만</a:t>
            </a:r>
            <a:r>
              <a:rPr dirty="0"/>
              <a:t> sad / </a:t>
            </a:r>
            <a:r>
              <a:rPr dirty="0" err="1"/>
              <a:t>fear는</a:t>
            </a:r>
            <a:r>
              <a:rPr dirty="0"/>
              <a:t> </a:t>
            </a:r>
            <a:r>
              <a:rPr dirty="0" err="1"/>
              <a:t>여전히</a:t>
            </a:r>
            <a:r>
              <a:rPr dirty="0"/>
              <a:t> </a:t>
            </a:r>
            <a:r>
              <a:rPr dirty="0" err="1"/>
              <a:t>어려운</a:t>
            </a:r>
            <a:r>
              <a:rPr dirty="0"/>
              <a:t> </a:t>
            </a:r>
            <a:r>
              <a:rPr dirty="0" err="1"/>
              <a:t>클래스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5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52644"/>
                </a:solidFill>
                <a:latin typeface="Malgun Gothic"/>
              </a:defRPr>
            </a:pPr>
            <a:r>
              <a:t>4. Keras vs PyTorch 최종 성능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87552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F6978"/>
                </a:solidFill>
                <a:latin typeface="Malgun Gothic"/>
              </a:defRPr>
            </a:pPr>
            <a:r>
              <a:t>이번 단일 실험에서는 Keras가 세 모델 모두 더 높은 성능을 기록했습니다.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512064"/>
            <a:ext cx="1600200" cy="347472"/>
          </a:xfrm>
          <a:prstGeom prst="roundRect">
            <a:avLst/>
          </a:prstGeom>
          <a:solidFill>
            <a:srgbClr val="E6EEFA"/>
          </a:solidFill>
          <a:ln>
            <a:solidFill>
              <a:srgbClr val="26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265CAD"/>
                </a:solidFill>
                <a:latin typeface="Malgun Gothic"/>
              </a:defRPr>
            </a:pPr>
            <a:r>
              <a:t>Compare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46520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F6978"/>
                </a:solidFill>
                <a:latin typeface="Malgun Gothic"/>
              </a:defRPr>
            </a:pPr>
            <a:r>
              <a:t>Emotion Classification Experiment Summary  |  08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371600"/>
          <a:ext cx="109728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75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75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675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754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754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6754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7719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Keras Acc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PyTorch Acc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Acc Diff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Keras F1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PyTorch F1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52644"/>
                          </a:solidFill>
                          <a:latin typeface="Malgun Gothic"/>
                        </a:defRPr>
                      </a:pPr>
                      <a:r>
                        <a:t>F1 Diff</a:t>
                      </a:r>
                    </a:p>
                  </a:txBody>
                  <a:tcPr>
                    <a:solidFill>
                      <a:srgbClr val="E6EE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ANN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44.89%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41.03%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+3.86%p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43.83%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39.36%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+4.47%p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DNN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44.03%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42.71%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+1.32%p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43.46%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42.06%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+1.40%p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CNN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52.47%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50.70%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+1.77%p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52.00%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49.46%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73F4D"/>
                          </a:solidFill>
                          <a:latin typeface="Malgun Gothic"/>
                        </a:defRPr>
                      </a:pPr>
                      <a:r>
                        <a:t>+2.55%p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8" name="Picture 7" descr="accura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834640"/>
            <a:ext cx="5120640" cy="2907098"/>
          </a:xfrm>
          <a:prstGeom prst="rect">
            <a:avLst/>
          </a:prstGeom>
        </p:spPr>
      </p:pic>
      <p:pic>
        <p:nvPicPr>
          <p:cNvPr id="9" name="Picture 8" descr="macro_f1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834640"/>
            <a:ext cx="5120640" cy="29070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5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52644"/>
                </a:solidFill>
                <a:latin typeface="Malgun Gothic"/>
              </a:defRPr>
            </a:pPr>
            <a:r>
              <a:t>4. CNN 클래스별 성능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87552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F6978"/>
                </a:solidFill>
                <a:latin typeface="Malgun Gothic"/>
              </a:defRPr>
            </a:pPr>
            <a:r>
              <a:t>Framework가 달라도 쉬운 클래스와 어려운 클래스의 경향은 유사하게 나타났습니다.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512064"/>
            <a:ext cx="1600200" cy="347472"/>
          </a:xfrm>
          <a:prstGeom prst="roundRect">
            <a:avLst/>
          </a:prstGeom>
          <a:solidFill>
            <a:srgbClr val="E6EEFA"/>
          </a:solidFill>
          <a:ln>
            <a:solidFill>
              <a:srgbClr val="26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265CAD"/>
                </a:solidFill>
                <a:latin typeface="Malgun Gothic"/>
              </a:defRPr>
            </a:pPr>
            <a:r>
              <a:t>Compare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46520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F6978"/>
                </a:solidFill>
                <a:latin typeface="Malgun Gothic"/>
              </a:defRPr>
            </a:pPr>
            <a:r>
              <a:t>Emotion Classification Experiment Summary  |  09</a:t>
            </a:r>
          </a:p>
        </p:txBody>
      </p:sp>
      <p:pic>
        <p:nvPicPr>
          <p:cNvPr id="7" name="Picture 6" descr="cnn_clas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25880"/>
            <a:ext cx="7223760" cy="364028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92440" y="1417320"/>
            <a:ext cx="3429000" cy="438912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84739" y="1610542"/>
            <a:ext cx="107753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52644"/>
                </a:solidFill>
                <a:latin typeface="Malgun Gothic"/>
              </a:defRPr>
            </a:pPr>
            <a:r>
              <a:rPr sz="1600" dirty="0" err="1"/>
              <a:t>핵심</a:t>
            </a:r>
            <a:r>
              <a:rPr sz="1600" dirty="0"/>
              <a:t> </a:t>
            </a:r>
            <a:r>
              <a:rPr sz="1600" dirty="0" err="1"/>
              <a:t>해석</a:t>
            </a:r>
            <a:endParaRPr sz="1600" dirty="0"/>
          </a:p>
        </p:txBody>
      </p:sp>
      <p:sp>
        <p:nvSpPr>
          <p:cNvPr id="10" name="TextBox 9"/>
          <p:cNvSpPr txBox="1"/>
          <p:nvPr/>
        </p:nvSpPr>
        <p:spPr>
          <a:xfrm>
            <a:off x="8247150" y="2022949"/>
            <a:ext cx="3154680" cy="3513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350">
                <a:solidFill>
                  <a:srgbClr val="373F4D"/>
                </a:solidFill>
                <a:latin typeface="Malgun Gothic"/>
              </a:defRPr>
            </a:pPr>
            <a:r>
              <a:rPr dirty="0"/>
              <a:t>happy, </a:t>
            </a:r>
            <a:r>
              <a:rPr dirty="0" err="1"/>
              <a:t>neutral는</a:t>
            </a:r>
            <a:r>
              <a:rPr dirty="0"/>
              <a:t> 두 </a:t>
            </a:r>
            <a:r>
              <a:rPr dirty="0" err="1"/>
              <a:t>프레임워크</a:t>
            </a:r>
            <a:r>
              <a:rPr dirty="0"/>
              <a:t> </a:t>
            </a:r>
            <a:r>
              <a:rPr dirty="0" err="1"/>
              <a:t>모두</a:t>
            </a:r>
            <a:r>
              <a:rPr dirty="0"/>
              <a:t> </a:t>
            </a:r>
            <a:r>
              <a:rPr dirty="0" err="1"/>
              <a:t>높은</a:t>
            </a:r>
            <a:r>
              <a:rPr dirty="0"/>
              <a:t> F1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35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350">
                <a:solidFill>
                  <a:srgbClr val="373F4D"/>
                </a:solidFill>
                <a:latin typeface="Malgun Gothic"/>
              </a:defRPr>
            </a:pPr>
            <a:r>
              <a:rPr dirty="0"/>
              <a:t>sad, </a:t>
            </a:r>
            <a:r>
              <a:rPr dirty="0" err="1"/>
              <a:t>fear는</a:t>
            </a:r>
            <a:r>
              <a:rPr dirty="0"/>
              <a:t> 두 </a:t>
            </a:r>
            <a:r>
              <a:rPr dirty="0" err="1"/>
              <a:t>프레임워크</a:t>
            </a:r>
            <a:r>
              <a:rPr dirty="0"/>
              <a:t> </a:t>
            </a:r>
            <a:r>
              <a:rPr dirty="0" err="1"/>
              <a:t>모두</a:t>
            </a:r>
            <a:r>
              <a:rPr dirty="0"/>
              <a:t> </a:t>
            </a:r>
            <a:r>
              <a:rPr dirty="0" err="1"/>
              <a:t>낮은</a:t>
            </a:r>
            <a:r>
              <a:rPr dirty="0"/>
              <a:t> </a:t>
            </a:r>
            <a:r>
              <a:rPr dirty="0" err="1"/>
              <a:t>성능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35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35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PyTorch는</a:t>
            </a:r>
            <a:r>
              <a:rPr dirty="0"/>
              <a:t> contempt, </a:t>
            </a:r>
            <a:r>
              <a:rPr dirty="0" err="1"/>
              <a:t>surprise에서</a:t>
            </a:r>
            <a:r>
              <a:rPr dirty="0"/>
              <a:t> </a:t>
            </a:r>
            <a:r>
              <a:rPr dirty="0" err="1"/>
              <a:t>Keras와</a:t>
            </a:r>
            <a:r>
              <a:rPr dirty="0"/>
              <a:t> </a:t>
            </a:r>
            <a:r>
              <a:rPr dirty="0" err="1"/>
              <a:t>유사하거나</a:t>
            </a:r>
            <a:r>
              <a:rPr dirty="0"/>
              <a:t> </a:t>
            </a:r>
            <a:r>
              <a:rPr dirty="0" err="1"/>
              <a:t>소폭</a:t>
            </a:r>
            <a:r>
              <a:rPr dirty="0"/>
              <a:t> </a:t>
            </a:r>
            <a:r>
              <a:rPr dirty="0" err="1"/>
              <a:t>우세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35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35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PyTorch는</a:t>
            </a:r>
            <a:r>
              <a:rPr dirty="0"/>
              <a:t> sad, </a:t>
            </a:r>
            <a:r>
              <a:rPr dirty="0" err="1"/>
              <a:t>disgust에서</a:t>
            </a:r>
            <a:r>
              <a:rPr dirty="0"/>
              <a:t> </a:t>
            </a:r>
            <a:r>
              <a:rPr dirty="0" err="1"/>
              <a:t>상대적으로</a:t>
            </a:r>
            <a:r>
              <a:rPr dirty="0"/>
              <a:t> 큰 </a:t>
            </a:r>
            <a:r>
              <a:rPr dirty="0" err="1"/>
              <a:t>저하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35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35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저성능</a:t>
            </a:r>
            <a:r>
              <a:rPr dirty="0"/>
              <a:t> </a:t>
            </a:r>
            <a:r>
              <a:rPr dirty="0" err="1"/>
              <a:t>클래스</a:t>
            </a:r>
            <a:r>
              <a:rPr dirty="0"/>
              <a:t> </a:t>
            </a:r>
            <a:r>
              <a:rPr dirty="0" err="1"/>
              <a:t>중심의</a:t>
            </a:r>
            <a:r>
              <a:rPr dirty="0"/>
              <a:t> confusion matrix </a:t>
            </a:r>
            <a:r>
              <a:rPr dirty="0" err="1"/>
              <a:t>분석이</a:t>
            </a:r>
            <a:r>
              <a:rPr dirty="0"/>
              <a:t> </a:t>
            </a:r>
            <a:r>
              <a:rPr dirty="0" err="1"/>
              <a:t>필요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5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52644"/>
                </a:solidFill>
                <a:latin typeface="Malgun Gothic"/>
              </a:defRPr>
            </a:pPr>
            <a:r>
              <a:t>5. 종합 해석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87552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F6978"/>
                </a:solidFill>
                <a:latin typeface="Malgun Gothic"/>
              </a:defRPr>
            </a:pPr>
            <a:r>
              <a:t>결과를 프레임워크 절대 우열이 아닌 ‘구현 환경 차이’까지 포함해 해석할 필요가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512064"/>
            <a:ext cx="1600200" cy="347472"/>
          </a:xfrm>
          <a:prstGeom prst="roundRect">
            <a:avLst/>
          </a:prstGeom>
          <a:solidFill>
            <a:srgbClr val="E6EEFA"/>
          </a:solidFill>
          <a:ln>
            <a:solidFill>
              <a:srgbClr val="26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265CAD"/>
                </a:solidFill>
                <a:latin typeface="Malgun Gothic"/>
              </a:defRPr>
            </a:pPr>
            <a:r>
              <a:t>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46520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F6978"/>
                </a:solidFill>
                <a:latin typeface="Malgun Gothic"/>
              </a:defRPr>
            </a:pPr>
            <a:r>
              <a:t>Emotion Classification Experiment Summary  |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5303520" cy="448056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30129" y="1601766"/>
            <a:ext cx="107753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52644"/>
                </a:solidFill>
                <a:latin typeface="Malgun Gothic"/>
              </a:defRPr>
            </a:pPr>
            <a:r>
              <a:rPr sz="1600" dirty="0" err="1"/>
              <a:t>핵심</a:t>
            </a:r>
            <a:r>
              <a:rPr sz="1600" dirty="0"/>
              <a:t> </a:t>
            </a:r>
            <a:r>
              <a:rPr sz="1600" dirty="0" err="1"/>
              <a:t>해석</a:t>
            </a:r>
            <a:endParaRPr sz="1600" dirty="0"/>
          </a:p>
        </p:txBody>
      </p:sp>
      <p:sp>
        <p:nvSpPr>
          <p:cNvPr id="9" name="TextBox 8"/>
          <p:cNvSpPr txBox="1"/>
          <p:nvPr/>
        </p:nvSpPr>
        <p:spPr>
          <a:xfrm>
            <a:off x="868680" y="2173093"/>
            <a:ext cx="484632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이번</a:t>
            </a:r>
            <a:r>
              <a:rPr dirty="0"/>
              <a:t> </a:t>
            </a:r>
            <a:r>
              <a:rPr dirty="0" err="1"/>
              <a:t>실험에서는</a:t>
            </a:r>
            <a:r>
              <a:rPr dirty="0"/>
              <a:t> </a:t>
            </a:r>
            <a:r>
              <a:rPr dirty="0" err="1"/>
              <a:t>Keras가</a:t>
            </a:r>
            <a:r>
              <a:rPr dirty="0"/>
              <a:t> </a:t>
            </a:r>
            <a:r>
              <a:rPr dirty="0" err="1"/>
              <a:t>모든</a:t>
            </a:r>
            <a:r>
              <a:rPr dirty="0"/>
              <a:t> </a:t>
            </a:r>
            <a:r>
              <a:rPr dirty="0" err="1"/>
              <a:t>모델에서</a:t>
            </a:r>
            <a:r>
              <a:rPr dirty="0"/>
              <a:t> 더 </a:t>
            </a:r>
            <a:r>
              <a:rPr dirty="0" err="1"/>
              <a:t>높은</a:t>
            </a:r>
            <a:r>
              <a:rPr dirty="0"/>
              <a:t> </a:t>
            </a:r>
            <a:r>
              <a:rPr dirty="0" err="1"/>
              <a:t>성능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하지만</a:t>
            </a:r>
            <a:r>
              <a:rPr dirty="0"/>
              <a:t> </a:t>
            </a:r>
            <a:r>
              <a:rPr dirty="0" err="1"/>
              <a:t>이것을</a:t>
            </a:r>
            <a:r>
              <a:rPr dirty="0"/>
              <a:t> </a:t>
            </a:r>
            <a:r>
              <a:rPr dirty="0" err="1"/>
              <a:t>프레임워크</a:t>
            </a:r>
            <a:r>
              <a:rPr dirty="0"/>
              <a:t> </a:t>
            </a:r>
            <a:r>
              <a:rPr dirty="0" err="1"/>
              <a:t>절대</a:t>
            </a:r>
            <a:r>
              <a:rPr dirty="0"/>
              <a:t> </a:t>
            </a:r>
            <a:r>
              <a:rPr dirty="0" err="1"/>
              <a:t>우위로</a:t>
            </a:r>
            <a:r>
              <a:rPr dirty="0"/>
              <a:t> </a:t>
            </a:r>
            <a:r>
              <a:rPr dirty="0" err="1"/>
              <a:t>단정하기는</a:t>
            </a:r>
            <a:r>
              <a:rPr dirty="0"/>
              <a:t> </a:t>
            </a:r>
            <a:r>
              <a:rPr dirty="0" err="1"/>
              <a:t>어려움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이유</a:t>
            </a:r>
            <a:r>
              <a:rPr dirty="0"/>
              <a:t>: </a:t>
            </a:r>
            <a:r>
              <a:rPr dirty="0" err="1"/>
              <a:t>초기화</a:t>
            </a:r>
            <a:r>
              <a:rPr dirty="0"/>
              <a:t> </a:t>
            </a:r>
            <a:r>
              <a:rPr dirty="0" err="1"/>
              <a:t>방식</a:t>
            </a:r>
            <a:r>
              <a:rPr dirty="0"/>
              <a:t>, Optimizer </a:t>
            </a:r>
            <a:r>
              <a:rPr dirty="0" err="1"/>
              <a:t>세부</a:t>
            </a:r>
            <a:r>
              <a:rPr dirty="0"/>
              <a:t> </a:t>
            </a:r>
            <a:r>
              <a:rPr dirty="0" err="1"/>
              <a:t>설정</a:t>
            </a:r>
            <a:r>
              <a:rPr dirty="0"/>
              <a:t>, </a:t>
            </a:r>
            <a:r>
              <a:rPr dirty="0" err="1"/>
              <a:t>증강</a:t>
            </a:r>
            <a:r>
              <a:rPr dirty="0"/>
              <a:t> </a:t>
            </a:r>
            <a:r>
              <a:rPr dirty="0" err="1"/>
              <a:t>구현</a:t>
            </a:r>
            <a:r>
              <a:rPr dirty="0"/>
              <a:t>, </a:t>
            </a:r>
            <a:r>
              <a:rPr dirty="0" err="1"/>
              <a:t>내부</a:t>
            </a:r>
            <a:r>
              <a:rPr dirty="0"/>
              <a:t> </a:t>
            </a:r>
            <a:r>
              <a:rPr dirty="0" err="1"/>
              <a:t>연산</a:t>
            </a:r>
            <a:r>
              <a:rPr dirty="0"/>
              <a:t> </a:t>
            </a:r>
            <a:r>
              <a:rPr dirty="0" err="1"/>
              <a:t>차이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보다</a:t>
            </a:r>
            <a:r>
              <a:rPr dirty="0"/>
              <a:t> </a:t>
            </a:r>
            <a:r>
              <a:rPr dirty="0" err="1"/>
              <a:t>중요한</a:t>
            </a:r>
            <a:r>
              <a:rPr dirty="0"/>
              <a:t> </a:t>
            </a:r>
            <a:r>
              <a:rPr dirty="0" err="1"/>
              <a:t>공통점은</a:t>
            </a:r>
            <a:r>
              <a:rPr dirty="0"/>
              <a:t> 두 </a:t>
            </a:r>
            <a:r>
              <a:rPr dirty="0" err="1"/>
              <a:t>프레임워크</a:t>
            </a:r>
            <a:r>
              <a:rPr dirty="0"/>
              <a:t> </a:t>
            </a:r>
            <a:r>
              <a:rPr dirty="0" err="1"/>
              <a:t>모두</a:t>
            </a:r>
            <a:r>
              <a:rPr dirty="0"/>
              <a:t> </a:t>
            </a:r>
            <a:r>
              <a:rPr dirty="0" err="1"/>
              <a:t>CNN이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우수했다는</a:t>
            </a:r>
            <a:r>
              <a:rPr dirty="0"/>
              <a:t> 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71600"/>
            <a:ext cx="5349240" cy="448056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7625" y="1611004"/>
            <a:ext cx="1765227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52644"/>
                </a:solidFill>
                <a:latin typeface="Malgun Gothic"/>
              </a:defRPr>
            </a:pPr>
            <a:r>
              <a:rPr sz="1600" dirty="0" err="1"/>
              <a:t>이번</a:t>
            </a:r>
            <a:r>
              <a:rPr sz="1600" dirty="0"/>
              <a:t> </a:t>
            </a:r>
            <a:r>
              <a:rPr sz="1600" dirty="0" err="1"/>
              <a:t>실험의</a:t>
            </a:r>
            <a:r>
              <a:rPr sz="1600" dirty="0"/>
              <a:t> </a:t>
            </a:r>
            <a:r>
              <a:rPr sz="1600" dirty="0" err="1"/>
              <a:t>의미</a:t>
            </a:r>
            <a:endParaRPr sz="1600" dirty="0"/>
          </a:p>
        </p:txBody>
      </p:sp>
      <p:sp>
        <p:nvSpPr>
          <p:cNvPr id="12" name="TextBox 11"/>
          <p:cNvSpPr txBox="1"/>
          <p:nvPr/>
        </p:nvSpPr>
        <p:spPr>
          <a:xfrm>
            <a:off x="6400800" y="2281843"/>
            <a:ext cx="4892040" cy="2785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모델</a:t>
            </a:r>
            <a:r>
              <a:rPr dirty="0"/>
              <a:t> </a:t>
            </a:r>
            <a:r>
              <a:rPr dirty="0" err="1"/>
              <a:t>구조</a:t>
            </a:r>
            <a:r>
              <a:rPr dirty="0"/>
              <a:t> </a:t>
            </a:r>
            <a:r>
              <a:rPr dirty="0" err="1"/>
              <a:t>차이가</a:t>
            </a:r>
            <a:r>
              <a:rPr dirty="0"/>
              <a:t> </a:t>
            </a:r>
            <a:r>
              <a:rPr dirty="0" err="1"/>
              <a:t>프레임워크</a:t>
            </a:r>
            <a:r>
              <a:rPr dirty="0"/>
              <a:t> </a:t>
            </a:r>
            <a:r>
              <a:rPr dirty="0" err="1"/>
              <a:t>차이보다</a:t>
            </a:r>
            <a:r>
              <a:rPr dirty="0"/>
              <a:t> 더 큰 </a:t>
            </a:r>
            <a:r>
              <a:rPr dirty="0" err="1"/>
              <a:t>영향을</a:t>
            </a:r>
            <a:r>
              <a:rPr dirty="0"/>
              <a:t> 줌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r>
              <a:rPr dirty="0"/>
              <a:t>Flatten </a:t>
            </a:r>
            <a:r>
              <a:rPr dirty="0" err="1"/>
              <a:t>기반</a:t>
            </a:r>
            <a:r>
              <a:rPr dirty="0"/>
              <a:t> ANN/</a:t>
            </a:r>
            <a:r>
              <a:rPr dirty="0" err="1"/>
              <a:t>DNN보다</a:t>
            </a:r>
            <a:r>
              <a:rPr dirty="0"/>
              <a:t> </a:t>
            </a:r>
            <a:r>
              <a:rPr dirty="0" err="1"/>
              <a:t>CNN이</a:t>
            </a:r>
            <a:r>
              <a:rPr dirty="0"/>
              <a:t> </a:t>
            </a:r>
            <a:r>
              <a:rPr dirty="0" err="1"/>
              <a:t>이미지</a:t>
            </a:r>
            <a:r>
              <a:rPr dirty="0"/>
              <a:t> </a:t>
            </a:r>
            <a:r>
              <a:rPr dirty="0" err="1"/>
              <a:t>분류에</a:t>
            </a:r>
            <a:r>
              <a:rPr dirty="0"/>
              <a:t> </a:t>
            </a:r>
            <a:r>
              <a:rPr dirty="0" err="1"/>
              <a:t>적합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DNN은</a:t>
            </a:r>
            <a:r>
              <a:rPr dirty="0"/>
              <a:t> </a:t>
            </a:r>
            <a:r>
              <a:rPr dirty="0" err="1"/>
              <a:t>LayerNorm</a:t>
            </a:r>
            <a:r>
              <a:rPr dirty="0"/>
              <a:t> </a:t>
            </a:r>
            <a:r>
              <a:rPr dirty="0" err="1"/>
              <a:t>적용이</a:t>
            </a:r>
            <a:r>
              <a:rPr dirty="0"/>
              <a:t> </a:t>
            </a:r>
            <a:r>
              <a:rPr dirty="0" err="1"/>
              <a:t>유효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5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CNN은</a:t>
            </a:r>
            <a:r>
              <a:rPr dirty="0"/>
              <a:t> RGB + augmentation + callback </a:t>
            </a:r>
            <a:r>
              <a:rPr dirty="0" err="1"/>
              <a:t>조합이</a:t>
            </a:r>
            <a:r>
              <a:rPr dirty="0"/>
              <a:t> </a:t>
            </a:r>
            <a:r>
              <a:rPr dirty="0" err="1"/>
              <a:t>최종</a:t>
            </a:r>
            <a:r>
              <a:rPr dirty="0"/>
              <a:t> </a:t>
            </a:r>
            <a:r>
              <a:rPr dirty="0" err="1"/>
              <a:t>후보로</a:t>
            </a:r>
            <a:r>
              <a:rPr dirty="0"/>
              <a:t> </a:t>
            </a:r>
            <a:r>
              <a:rPr dirty="0" err="1"/>
              <a:t>타당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47472"/>
          </a:xfrm>
          <a:prstGeom prst="rect">
            <a:avLst/>
          </a:prstGeom>
          <a:solidFill>
            <a:srgbClr val="15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52644"/>
                </a:solidFill>
                <a:latin typeface="Malgun Gothic"/>
              </a:defRPr>
            </a:pPr>
            <a:r>
              <a:t>6. 결론 및 향후 실험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87552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F6978"/>
                </a:solidFill>
                <a:latin typeface="Malgun Gothic"/>
              </a:defRPr>
            </a:pPr>
            <a:r>
              <a:t>발표 마무리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512064"/>
            <a:ext cx="1600200" cy="347472"/>
          </a:xfrm>
          <a:prstGeom prst="roundRect">
            <a:avLst/>
          </a:prstGeom>
          <a:solidFill>
            <a:srgbClr val="E6EEFA"/>
          </a:solidFill>
          <a:ln>
            <a:solidFill>
              <a:srgbClr val="26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265CAD"/>
                </a:solidFill>
                <a:latin typeface="Malgun Gothic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46520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5F6978"/>
                </a:solidFill>
                <a:latin typeface="Malgun Gothic"/>
              </a:defRPr>
            </a:pPr>
            <a:r>
              <a:t>Emotion Classification Experiment Summary  | 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5394960" cy="452628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6339" y="1647946"/>
            <a:ext cx="59503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52644"/>
                </a:solidFill>
                <a:latin typeface="Malgun Gothic"/>
              </a:defRPr>
            </a:pPr>
            <a:r>
              <a:rPr sz="1600" dirty="0" err="1"/>
              <a:t>결론</a:t>
            </a:r>
            <a:endParaRPr sz="1600" dirty="0"/>
          </a:p>
        </p:txBody>
      </p:sp>
      <p:sp>
        <p:nvSpPr>
          <p:cNvPr id="9" name="TextBox 8"/>
          <p:cNvSpPr txBox="1"/>
          <p:nvPr/>
        </p:nvSpPr>
        <p:spPr>
          <a:xfrm>
            <a:off x="868680" y="2318787"/>
            <a:ext cx="4892040" cy="2446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Keras와</a:t>
            </a:r>
            <a:r>
              <a:rPr dirty="0"/>
              <a:t> </a:t>
            </a:r>
            <a:r>
              <a:rPr dirty="0" err="1"/>
              <a:t>PyTorch</a:t>
            </a:r>
            <a:r>
              <a:rPr dirty="0"/>
              <a:t> </a:t>
            </a:r>
            <a:r>
              <a:rPr dirty="0" err="1"/>
              <a:t>모두</a:t>
            </a:r>
            <a:r>
              <a:rPr dirty="0"/>
              <a:t> </a:t>
            </a:r>
            <a:r>
              <a:rPr dirty="0" err="1"/>
              <a:t>CNN이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우수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Keras는</a:t>
            </a:r>
            <a:r>
              <a:rPr dirty="0"/>
              <a:t> </a:t>
            </a:r>
            <a:r>
              <a:rPr dirty="0" err="1"/>
              <a:t>이번</a:t>
            </a:r>
            <a:r>
              <a:rPr dirty="0"/>
              <a:t> </a:t>
            </a:r>
            <a:r>
              <a:rPr dirty="0" err="1"/>
              <a:t>실험에서</a:t>
            </a:r>
            <a:r>
              <a:rPr dirty="0"/>
              <a:t> </a:t>
            </a:r>
            <a:r>
              <a:rPr dirty="0" err="1"/>
              <a:t>Accuracy와</a:t>
            </a:r>
            <a:r>
              <a:rPr dirty="0"/>
              <a:t> Macro F1이 </a:t>
            </a:r>
            <a:r>
              <a:rPr dirty="0" err="1"/>
              <a:t>전반적으로</a:t>
            </a:r>
            <a:r>
              <a:rPr dirty="0"/>
              <a:t> 더 </a:t>
            </a:r>
            <a:r>
              <a:rPr dirty="0" err="1"/>
              <a:t>높음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DNN은</a:t>
            </a:r>
            <a:r>
              <a:rPr dirty="0"/>
              <a:t> </a:t>
            </a:r>
            <a:r>
              <a:rPr dirty="0" err="1"/>
              <a:t>LayerNorm</a:t>
            </a:r>
            <a:r>
              <a:rPr dirty="0"/>
              <a:t> </a:t>
            </a:r>
            <a:r>
              <a:rPr dirty="0" err="1"/>
              <a:t>적용이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안정적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감정</a:t>
            </a:r>
            <a:r>
              <a:rPr dirty="0"/>
              <a:t> </a:t>
            </a:r>
            <a:r>
              <a:rPr dirty="0" err="1"/>
              <a:t>분류에서는</a:t>
            </a:r>
            <a:r>
              <a:rPr dirty="0"/>
              <a:t> </a:t>
            </a:r>
            <a:r>
              <a:rPr dirty="0" err="1"/>
              <a:t>공간적</a:t>
            </a:r>
            <a:r>
              <a:rPr dirty="0"/>
              <a:t> </a:t>
            </a:r>
            <a:r>
              <a:rPr dirty="0" err="1"/>
              <a:t>얼굴</a:t>
            </a:r>
            <a:r>
              <a:rPr dirty="0"/>
              <a:t> </a:t>
            </a:r>
            <a:r>
              <a:rPr dirty="0" err="1"/>
              <a:t>특징</a:t>
            </a:r>
            <a:r>
              <a:rPr dirty="0"/>
              <a:t> </a:t>
            </a:r>
            <a:r>
              <a:rPr dirty="0" err="1"/>
              <a:t>추출이</a:t>
            </a:r>
            <a:r>
              <a:rPr dirty="0"/>
              <a:t> </a:t>
            </a:r>
            <a:r>
              <a:rPr dirty="0" err="1"/>
              <a:t>핵심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257800" cy="4526280"/>
          </a:xfrm>
          <a:prstGeom prst="roundRect">
            <a:avLst/>
          </a:prstGeom>
          <a:solidFill>
            <a:srgbClr val="F7F9FC"/>
          </a:solidFill>
          <a:ln>
            <a:solidFill>
              <a:srgbClr val="E6EE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49902" y="1583293"/>
            <a:ext cx="107753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52644"/>
                </a:solidFill>
                <a:latin typeface="Malgun Gothic"/>
              </a:defRPr>
            </a:pPr>
            <a:r>
              <a:rPr sz="1600" dirty="0" err="1"/>
              <a:t>향후</a:t>
            </a:r>
            <a:r>
              <a:rPr sz="1600" dirty="0"/>
              <a:t> </a:t>
            </a:r>
            <a:r>
              <a:rPr sz="1600" dirty="0" err="1"/>
              <a:t>실험</a:t>
            </a:r>
            <a:endParaRPr sz="1600" dirty="0"/>
          </a:p>
        </p:txBody>
      </p:sp>
      <p:sp>
        <p:nvSpPr>
          <p:cNvPr id="12" name="TextBox 11"/>
          <p:cNvSpPr txBox="1"/>
          <p:nvPr/>
        </p:nvSpPr>
        <p:spPr>
          <a:xfrm>
            <a:off x="6473952" y="2087876"/>
            <a:ext cx="4800600" cy="3313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/>
              <a:t>Conv 1개 → Pool </a:t>
            </a:r>
            <a:r>
              <a:rPr dirty="0" err="1"/>
              <a:t>구조를</a:t>
            </a:r>
            <a:r>
              <a:rPr dirty="0"/>
              <a:t> Conv 2개 → Pool </a:t>
            </a:r>
            <a:r>
              <a:rPr dirty="0" err="1"/>
              <a:t>구조로</a:t>
            </a:r>
            <a:r>
              <a:rPr dirty="0"/>
              <a:t> </a:t>
            </a:r>
            <a:r>
              <a:rPr dirty="0" err="1"/>
              <a:t>변경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/>
              <a:t>Flip only / Rotation only / </a:t>
            </a:r>
            <a:r>
              <a:rPr dirty="0" err="1"/>
              <a:t>Flip+Rotation</a:t>
            </a:r>
            <a:r>
              <a:rPr dirty="0"/>
              <a:t> ablation </a:t>
            </a:r>
            <a:r>
              <a:rPr dirty="0" err="1"/>
              <a:t>수행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/>
              <a:t>Learning Rate 0.001 → 0.0005 </a:t>
            </a:r>
            <a:r>
              <a:rPr dirty="0" err="1"/>
              <a:t>실험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필요</a:t>
            </a:r>
            <a:r>
              <a:rPr dirty="0"/>
              <a:t> 시 </a:t>
            </a:r>
            <a:r>
              <a:rPr dirty="0" err="1"/>
              <a:t>BatchNorm</a:t>
            </a:r>
            <a:r>
              <a:rPr dirty="0"/>
              <a:t> → </a:t>
            </a:r>
            <a:r>
              <a:rPr dirty="0" err="1"/>
              <a:t>GroupNorm</a:t>
            </a:r>
            <a:r>
              <a:rPr dirty="0"/>
              <a:t> </a:t>
            </a:r>
            <a:r>
              <a:rPr dirty="0" err="1"/>
              <a:t>비교</a:t>
            </a:r>
            <a:endParaRPr lang="en-US"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endParaRPr dirty="0"/>
          </a:p>
          <a:p>
            <a:pPr marL="285750" indent="-285750">
              <a:spcAft>
                <a:spcPts val="500"/>
              </a:spcAft>
              <a:buFont typeface="Wingdings" panose="05000000000000000000" pitchFamily="2" charset="2"/>
              <a:buChar char="§"/>
              <a:defRPr sz="1600">
                <a:solidFill>
                  <a:srgbClr val="373F4D"/>
                </a:solidFill>
                <a:latin typeface="Malgun Gothic"/>
              </a:defRPr>
            </a:pPr>
            <a:r>
              <a:rPr dirty="0" err="1"/>
              <a:t>다중</a:t>
            </a:r>
            <a:r>
              <a:rPr dirty="0"/>
              <a:t> seed </a:t>
            </a:r>
            <a:r>
              <a:rPr dirty="0" err="1"/>
              <a:t>기반</a:t>
            </a:r>
            <a:r>
              <a:rPr dirty="0"/>
              <a:t> </a:t>
            </a:r>
            <a:r>
              <a:rPr dirty="0" err="1"/>
              <a:t>재현성</a:t>
            </a:r>
            <a:r>
              <a:rPr dirty="0"/>
              <a:t> </a:t>
            </a:r>
            <a:r>
              <a:rPr dirty="0" err="1"/>
              <a:t>검증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1091</Words>
  <Application>Microsoft Office PowerPoint</Application>
  <PresentationFormat>와이드스크린</PresentationFormat>
  <Paragraphs>288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7" baseType="lpstr">
      <vt:lpstr>맑은 고딕</vt:lpstr>
      <vt:lpstr>Arial</vt:lpstr>
      <vt:lpstr>Calibri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이동현</cp:lastModifiedBy>
  <cp:revision>11</cp:revision>
  <dcterms:created xsi:type="dcterms:W3CDTF">2013-01-27T09:14:16Z</dcterms:created>
  <dcterms:modified xsi:type="dcterms:W3CDTF">2026-08-31T00:28:41Z</dcterms:modified>
  <cp:category/>
</cp:coreProperties>
</file>